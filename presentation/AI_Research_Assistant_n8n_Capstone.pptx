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DCE6EE"/>
                </a:solidFill>
                <a:latin typeface="+mn-lt"/>
              </a:defRPr>
            </a:pPr>
            <a:r>
              <a:rPr sz="1600" b="0" i="0" u="none" strike="noStrike">
                <a:solidFill>
                  <a:srgbClr val="DCE6EE"/>
                </a:solidFill>
                <a:latin typeface="+mn-lt"/>
              </a:rPr>
              <a:t>Live run, 7 Oct 2026 (3 topics)</a:t>
            </a:r>
          </a:p>
        </c:rich>
      </c:tx>
      <c:layout/>
      <c:overlay val="0"/>
    </c:title>
    <c:autoTitleDeleted val="0"/>
    <c:plotArea>
      <c:layout/>
      <c:barChart>
        <c:barDir val="bar"/>
        <c:grouping val="clustered"/>
        <c:varyColors val="0"/>
        <c:ser>
          <c:idx val="0"/>
          <c:order val="0"/>
          <c:tx>
            <c:strRef>
              <c:f>Sheet1!$B$1</c:f>
              <c:strCache>
                <c:ptCount val="1"/>
                <c:pt idx="0">
                  <c:v>Papers</c:v>
                </c:pt>
              </c:strCache>
            </c:strRef>
          </c:tx>
          <c:spPr>
            <a:solidFill>
              <a:srgbClr val="5FA8D3"/>
            </a:solidFill>
            <a:effectLst/>
          </c:spPr>
          <c:invertIfNegative val="0"/>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cat>
            <c:multiLvlStrRef>
              <c:f>Sheet1!$A$2:$A$6</c:f>
              <c:multiLvlStrCache>
                <c:ptCount val="5"/>
                <c:lvl>
                  <c:pt idx="0">
                    <c:v>Candidates</c:v>
                  </c:pt>
                  <c:pt idx="1">
                    <c:v>Stored (AI ≥ 0.70)</c:v>
                  </c:pt>
                  <c:pt idx="2">
                    <c:v>Summarised</c:v>
                  </c:pt>
                  <c:pt idx="3">
                    <c:v>Cited &amp; archived</c:v>
                  </c:pt>
                  <c:pt idx="4">
                    <c:v>In digests built</c:v>
                  </c:pt>
                </c:lvl>
              </c:multiLvlStrCache>
            </c:multiLvlStrRef>
          </c:cat>
          <c:val>
            <c:numRef>
              <c:f>Sheet1!$B$2:$B$6</c:f>
              <c:numCache>
                <c:formatCode>General</c:formatCode>
                <c:ptCount val="5"/>
                <c:pt idx="0">
                  <c:v>37</c:v>
                </c:pt>
                <c:pt idx="1">
                  <c:v>36</c:v>
                </c:pt>
                <c:pt idx="2">
                  <c:v>36</c:v>
                </c:pt>
                <c:pt idx="3">
                  <c:v>36</c:v>
                </c:pt>
                <c:pt idx="4">
                  <c:v>20</c:v>
                </c:pt>
              </c:numCache>
            </c:numRef>
          </c:val>
        </c:ser>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DCE6E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assignment 8 of the n8n capstone, an AI Research Assistant Platform. One sentence on the idea: register a research topic once, and the system keeps collecting, filtering, summarising, citing and delivering papers for you. The six circles are the six stages; each one is a separate n8n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context: students and faculty do their literature tracking by hand. Walk through the five pain points on the left. Then the stakeholders: researchers are the main users, supervisors want a quick view, the lab admin runs n8n and pays for the APIs, and the library cares about a stable, searchable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lists five objectives and suggests five sub-workflows. I built them one-to-one, so each card is one workflow. Workflow 06 is the extra layer for the advanced features: retries, error handling, logging and the audit trail. In total: 8 workflow files, 114 nodes. The brief asks for 4–6 workflows and 20–25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Top row: the external services. Middle row: the workflows, from registration on the left to the digest on the right, with 06 as the error handler. Bottom row: the n8n Data Tables. Researchers register through the form or API, receive digests by email and can query the search API. The dashed red line means every workflow reports to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design decision. Workflows never call each other to pass work along. Each one reads rows in a given state and writes the next state, so the Data Tables act as a state machine. This is why I can run 03 again without touching 02, and why a failure in one stage can never corrupt another. Workflow 06 receives a run summary from every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Registration has two front doors: a REST API for tools and an n8n web form for people. Validation collects every error at once rather than stopping at the first. The duplicate key is the email plus the normalised topic, so changing case or adding spaces does not create a second registration. Every registration is logged to 06. Tested in T1–T4.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Two points matter most. First, duplicates from the two sources are merged, not just dropped, so a missing abstract or PDF link gets filled in from the other source. Second, already-stored papers are skipped before the LLM, so no paper is scored twice. In the live run: 37 candidates, 36 stored, 1 filtered, 0 AI failures. One topic returned no arXiv results, and the run still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03 runs hourly and takes up to 20 unprocessed papers per run. The prompt asks for these ten fields as strict JSON and forbids inventing datasets, models or numbers. A Code node validates the output. On the right is a real note the system produced for FAIR-RAG; the numbers come from the abstract. Both batches in the live run succeeded: 36 out of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04 builds an APA 7 citation and a BibTeX entry for every summarised paper, deterministically in code, so references cannot be hallucinated. It downloads each PDF and archives it to Google Drive, plus a .bib library per run. Every outcome is recorded; Drive is not connected yet, so the live run shows drive_upload_failed while the run itself succeeds. This run also exposed a real bug with 25 PDFs at once, which I fixed. The same workflow serves the search API; these are the real top three results for "faithfulness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from the live run on 7 Oct for the RAG topic, written by GPT-5-mini from the ten stored summaries: an overview, trends, a read-first list and open questions. Each topic gets its digest on the schedule the researcher chose. Gmail is not connected on this instance yet, so the send went to the failure branch: it was logged as failed, and the papers stay undigested for the next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how each kind of failure is handled. All of these were tested: 14 scenario tests on 6 Oct, including invalid input, duplicates, no results, an API outage, LLM failure, broken PDFs, a failed email and a simulated 429. Then a 7-step live run on real data on 7 Oct, which found one real bug in the PDF branch; it is fixed and documented. No API key is stored in any workflow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numbers from the live run: 37 candidates, 36 stored, all 36 summarised, cited and archived, and 20 papers in the two digests that were built (each digest shows up to 10 papers per topic; the rest go into the next one). They were not emailed, because Gmail is not connected yet. Three lessons, then next steps: connect the remaining credentials, summarise full-text PDFs, and add a human approval step. Thank the audience and point to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1088136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AI Research Assistant Platform · n8n Capstone · Anshika Rana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10881360" cy="118872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AI Research Assistant Platform</a:t>
            </a:r>
            <a:endParaRPr lang="en-US" sz="4400" dirty="0"/>
          </a:p>
        </p:txBody>
      </p:sp>
      <p:sp>
        <p:nvSpPr>
          <p:cNvPr id="3" name="Text 1"/>
          <p:cNvSpPr txBox="1"/>
          <p:nvPr/>
        </p:nvSpPr>
        <p:spPr>
          <a:xfrm>
            <a:off x="640080" y="2606040"/>
            <a:ext cx="10515600" cy="548640"/>
          </a:xfrm>
          <a:prstGeom prst="rect">
            <a:avLst/>
          </a:prstGeom>
          <a:noFill/>
          <a:ln/>
        </p:spPr>
        <p:txBody>
          <a:bodyPr wrap="square" lIns="0" tIns="0" rIns="0" bIns="0" rtlCol="0" anchor="t"/>
          <a:lstStyle/>
          <a:p>
            <a:pPr indent="0" marL="0">
              <a:buNone/>
            </a:pPr>
            <a:r>
              <a:rPr lang="en-US" sz="2200" dirty="0">
                <a:solidFill>
                  <a:srgbClr val="CADCE6"/>
                </a:solidFill>
                <a:latin typeface="Calibri" pitchFamily="34" charset="0"/>
                <a:ea typeface="Calibri" pitchFamily="34" charset="-122"/>
                <a:cs typeface="Calibri" pitchFamily="34" charset="-120"/>
              </a:rPr>
              <a:t>An n8n automation that collects, filters, summarises, cites and delivers research papers</a:t>
            </a:r>
            <a:endParaRPr lang="en-US" sz="2200" dirty="0"/>
          </a:p>
        </p:txBody>
      </p:sp>
      <p:sp>
        <p:nvSpPr>
          <p:cNvPr id="4" name="Text 2"/>
          <p:cNvSpPr txBox="1"/>
          <p:nvPr/>
        </p:nvSpPr>
        <p:spPr>
          <a:xfrm>
            <a:off x="640080" y="3246120"/>
            <a:ext cx="10515600" cy="365760"/>
          </a:xfrm>
          <a:prstGeom prst="rect">
            <a:avLst/>
          </a:prstGeom>
          <a:noFill/>
          <a:ln/>
        </p:spPr>
        <p:txBody>
          <a:bodyPr wrap="square" lIns="0" tIns="0" rIns="0" bIns="0" rtlCol="0" anchor="t"/>
          <a:lstStyle/>
          <a:p>
            <a:pPr indent="0" marL="0">
              <a:buNone/>
            </a:pPr>
            <a:r>
              <a:rPr lang="en-US" sz="1500" dirty="0">
                <a:solidFill>
                  <a:srgbClr val="A9BCCB"/>
                </a:solidFill>
                <a:latin typeface="Calibri" pitchFamily="34" charset="0"/>
                <a:ea typeface="Calibri" pitchFamily="34" charset="-122"/>
                <a:cs typeface="Calibri" pitchFamily="34" charset="-120"/>
              </a:rPr>
              <a:t>n8n Capstone Project · Assignment 8 · IIT Jammu AI/LLM Summer School 2026 · Anshika Rana</a:t>
            </a:r>
            <a:endParaRPr lang="en-US" sz="1500" dirty="0"/>
          </a:p>
        </p:txBody>
      </p:sp>
      <p:sp>
        <p:nvSpPr>
          <p:cNvPr id="5" name="stage link 0"/>
          <p:cNvSpPr/>
          <p:nvPr/>
        </p:nvSpPr>
        <p:spPr>
          <a:xfrm>
            <a:off x="1691640" y="4864608"/>
            <a:ext cx="868680" cy="0"/>
          </a:xfrm>
          <a:prstGeom prst="line">
            <a:avLst/>
          </a:prstGeom>
          <a:noFill/>
          <a:ln w="19050">
            <a:solidFill>
              <a:srgbClr val="3E5C76"/>
            </a:solidFill>
            <a:prstDash val="dash"/>
          </a:ln>
        </p:spPr>
      </p:sp>
      <p:sp>
        <p:nvSpPr>
          <p:cNvPr id="6" name="stage Register circle"/>
          <p:cNvSpPr/>
          <p:nvPr/>
        </p:nvSpPr>
        <p:spPr>
          <a:xfrm>
            <a:off x="822960" y="4480560"/>
            <a:ext cx="777240" cy="777240"/>
          </a:xfrm>
          <a:prstGeom prst="ellipse">
            <a:avLst/>
          </a:prstGeom>
          <a:solidFill>
            <a:srgbClr val="1B4965"/>
          </a:solidFill>
          <a:ln w="12700">
            <a:solidFill>
              <a:srgbClr val="1B4965"/>
            </a:solidFill>
            <a:prstDash val="solid"/>
          </a:ln>
        </p:spPr>
      </p:sp>
      <p:pic>
        <p:nvPicPr>
          <p:cNvPr id="7" name="stage Register icon" descr="stage Register">    </p:cNvPr>
          <p:cNvPicPr>
            <a:picLocks noChangeAspect="1"/>
          </p:cNvPicPr>
          <p:nvPr/>
        </p:nvPicPr>
        <p:blipFill>
          <a:blip r:embed="rId1"/>
          <a:stretch>
            <a:fillRect/>
          </a:stretch>
        </p:blipFill>
        <p:spPr>
          <a:xfrm>
            <a:off x="1017270" y="4674870"/>
            <a:ext cx="388620" cy="388620"/>
          </a:xfrm>
          <a:prstGeom prst="rect">
            <a:avLst/>
          </a:prstGeom>
        </p:spPr>
      </p:pic>
      <p:sp>
        <p:nvSpPr>
          <p:cNvPr id="8" name="Text 5"/>
          <p:cNvSpPr txBox="1"/>
          <p:nvPr/>
        </p:nvSpPr>
        <p:spPr>
          <a:xfrm>
            <a:off x="411480" y="5394960"/>
            <a:ext cx="160020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Register</a:t>
            </a:r>
            <a:endParaRPr lang="en-US" sz="1500" dirty="0"/>
          </a:p>
        </p:txBody>
      </p:sp>
      <p:sp>
        <p:nvSpPr>
          <p:cNvPr id="9" name="Text 6"/>
          <p:cNvSpPr txBox="1"/>
          <p:nvPr/>
        </p:nvSpPr>
        <p:spPr>
          <a:xfrm>
            <a:off x="411480" y="5715000"/>
            <a:ext cx="1600200" cy="274320"/>
          </a:xfrm>
          <a:prstGeom prst="rect">
            <a:avLst/>
          </a:prstGeom>
          <a:noFill/>
          <a:ln/>
        </p:spPr>
        <p:txBody>
          <a:bodyPr wrap="square" lIns="0" tIns="0" rIns="0" bIns="0" rtlCol="0" anchor="t"/>
          <a:lstStyle/>
          <a:p>
            <a:pPr algn="ctr" indent="0" marL="0">
              <a:buNone/>
            </a:pPr>
            <a:r>
              <a:rPr lang="en-US" sz="1200" dirty="0">
                <a:solidFill>
                  <a:srgbClr val="A9BCCB"/>
                </a:solidFill>
                <a:latin typeface="Calibri" pitchFamily="34" charset="0"/>
                <a:ea typeface="Calibri" pitchFamily="34" charset="-122"/>
                <a:cs typeface="Calibri" pitchFamily="34" charset="-120"/>
              </a:rPr>
              <a:t>workflow 01</a:t>
            </a:r>
            <a:endParaRPr lang="en-US" sz="1200" dirty="0"/>
          </a:p>
        </p:txBody>
      </p:sp>
      <p:sp>
        <p:nvSpPr>
          <p:cNvPr id="10" name="stage link 1"/>
          <p:cNvSpPr/>
          <p:nvPr/>
        </p:nvSpPr>
        <p:spPr>
          <a:xfrm>
            <a:off x="3520440" y="4864608"/>
            <a:ext cx="868680" cy="0"/>
          </a:xfrm>
          <a:prstGeom prst="line">
            <a:avLst/>
          </a:prstGeom>
          <a:noFill/>
          <a:ln w="19050">
            <a:solidFill>
              <a:srgbClr val="3E5C76"/>
            </a:solidFill>
            <a:prstDash val="dash"/>
          </a:ln>
        </p:spPr>
      </p:sp>
      <p:sp>
        <p:nvSpPr>
          <p:cNvPr id="11" name="stage Collect circle"/>
          <p:cNvSpPr/>
          <p:nvPr/>
        </p:nvSpPr>
        <p:spPr>
          <a:xfrm>
            <a:off x="2651760" y="4480560"/>
            <a:ext cx="777240" cy="777240"/>
          </a:xfrm>
          <a:prstGeom prst="ellipse">
            <a:avLst/>
          </a:prstGeom>
          <a:solidFill>
            <a:srgbClr val="1B4965"/>
          </a:solidFill>
          <a:ln w="12700">
            <a:solidFill>
              <a:srgbClr val="1B4965"/>
            </a:solidFill>
            <a:prstDash val="solid"/>
          </a:ln>
        </p:spPr>
      </p:sp>
      <p:pic>
        <p:nvPicPr>
          <p:cNvPr id="12" name="stage Collect icon" descr="stage Collect">    </p:cNvPr>
          <p:cNvPicPr>
            <a:picLocks noChangeAspect="1"/>
          </p:cNvPicPr>
          <p:nvPr/>
        </p:nvPicPr>
        <p:blipFill>
          <a:blip r:embed="rId2"/>
          <a:stretch>
            <a:fillRect/>
          </a:stretch>
        </p:blipFill>
        <p:spPr>
          <a:xfrm>
            <a:off x="2846070" y="4674870"/>
            <a:ext cx="388620" cy="388620"/>
          </a:xfrm>
          <a:prstGeom prst="rect">
            <a:avLst/>
          </a:prstGeom>
        </p:spPr>
      </p:pic>
      <p:sp>
        <p:nvSpPr>
          <p:cNvPr id="13" name="Text 9"/>
          <p:cNvSpPr txBox="1"/>
          <p:nvPr/>
        </p:nvSpPr>
        <p:spPr>
          <a:xfrm>
            <a:off x="2240280" y="5394960"/>
            <a:ext cx="160020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Collect</a:t>
            </a:r>
            <a:endParaRPr lang="en-US" sz="1500" dirty="0"/>
          </a:p>
        </p:txBody>
      </p:sp>
      <p:sp>
        <p:nvSpPr>
          <p:cNvPr id="14" name="Text 10"/>
          <p:cNvSpPr txBox="1"/>
          <p:nvPr/>
        </p:nvSpPr>
        <p:spPr>
          <a:xfrm>
            <a:off x="2240280" y="5715000"/>
            <a:ext cx="1600200" cy="274320"/>
          </a:xfrm>
          <a:prstGeom prst="rect">
            <a:avLst/>
          </a:prstGeom>
          <a:noFill/>
          <a:ln/>
        </p:spPr>
        <p:txBody>
          <a:bodyPr wrap="square" lIns="0" tIns="0" rIns="0" bIns="0" rtlCol="0" anchor="t"/>
          <a:lstStyle/>
          <a:p>
            <a:pPr algn="ctr" indent="0" marL="0">
              <a:buNone/>
            </a:pPr>
            <a:r>
              <a:rPr lang="en-US" sz="1200" dirty="0">
                <a:solidFill>
                  <a:srgbClr val="A9BCCB"/>
                </a:solidFill>
                <a:latin typeface="Calibri" pitchFamily="34" charset="0"/>
                <a:ea typeface="Calibri" pitchFamily="34" charset="-122"/>
                <a:cs typeface="Calibri" pitchFamily="34" charset="-120"/>
              </a:rPr>
              <a:t>workflow 02</a:t>
            </a:r>
            <a:endParaRPr lang="en-US" sz="1200" dirty="0"/>
          </a:p>
        </p:txBody>
      </p:sp>
      <p:sp>
        <p:nvSpPr>
          <p:cNvPr id="15" name="stage link 2"/>
          <p:cNvSpPr/>
          <p:nvPr/>
        </p:nvSpPr>
        <p:spPr>
          <a:xfrm>
            <a:off x="5349240" y="4864608"/>
            <a:ext cx="868680" cy="0"/>
          </a:xfrm>
          <a:prstGeom prst="line">
            <a:avLst/>
          </a:prstGeom>
          <a:noFill/>
          <a:ln w="19050">
            <a:solidFill>
              <a:srgbClr val="3E5C76"/>
            </a:solidFill>
            <a:prstDash val="dash"/>
          </a:ln>
        </p:spPr>
      </p:sp>
      <p:sp>
        <p:nvSpPr>
          <p:cNvPr id="16" name="stage Summarise circle"/>
          <p:cNvSpPr/>
          <p:nvPr/>
        </p:nvSpPr>
        <p:spPr>
          <a:xfrm>
            <a:off x="4480560" y="4480560"/>
            <a:ext cx="777240" cy="777240"/>
          </a:xfrm>
          <a:prstGeom prst="ellipse">
            <a:avLst/>
          </a:prstGeom>
          <a:solidFill>
            <a:srgbClr val="C9822B"/>
          </a:solidFill>
          <a:ln w="12700">
            <a:solidFill>
              <a:srgbClr val="C9822B"/>
            </a:solidFill>
            <a:prstDash val="solid"/>
          </a:ln>
        </p:spPr>
      </p:sp>
      <p:pic>
        <p:nvPicPr>
          <p:cNvPr id="17" name="stage Summarise icon" descr="stage Summarise">    </p:cNvPr>
          <p:cNvPicPr>
            <a:picLocks noChangeAspect="1"/>
          </p:cNvPicPr>
          <p:nvPr/>
        </p:nvPicPr>
        <p:blipFill>
          <a:blip r:embed="rId3"/>
          <a:stretch>
            <a:fillRect/>
          </a:stretch>
        </p:blipFill>
        <p:spPr>
          <a:xfrm>
            <a:off x="4674870" y="4674870"/>
            <a:ext cx="388620" cy="388620"/>
          </a:xfrm>
          <a:prstGeom prst="rect">
            <a:avLst/>
          </a:prstGeom>
        </p:spPr>
      </p:pic>
      <p:sp>
        <p:nvSpPr>
          <p:cNvPr id="18" name="Text 13"/>
          <p:cNvSpPr txBox="1"/>
          <p:nvPr/>
        </p:nvSpPr>
        <p:spPr>
          <a:xfrm>
            <a:off x="4069080" y="5394960"/>
            <a:ext cx="160020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Summarise</a:t>
            </a:r>
            <a:endParaRPr lang="en-US" sz="1500" dirty="0"/>
          </a:p>
        </p:txBody>
      </p:sp>
      <p:sp>
        <p:nvSpPr>
          <p:cNvPr id="19" name="Text 14"/>
          <p:cNvSpPr txBox="1"/>
          <p:nvPr/>
        </p:nvSpPr>
        <p:spPr>
          <a:xfrm>
            <a:off x="4069080" y="5715000"/>
            <a:ext cx="1600200" cy="274320"/>
          </a:xfrm>
          <a:prstGeom prst="rect">
            <a:avLst/>
          </a:prstGeom>
          <a:noFill/>
          <a:ln/>
        </p:spPr>
        <p:txBody>
          <a:bodyPr wrap="square" lIns="0" tIns="0" rIns="0" bIns="0" rtlCol="0" anchor="t"/>
          <a:lstStyle/>
          <a:p>
            <a:pPr algn="ctr" indent="0" marL="0">
              <a:buNone/>
            </a:pPr>
            <a:r>
              <a:rPr lang="en-US" sz="1200" dirty="0">
                <a:solidFill>
                  <a:srgbClr val="A9BCCB"/>
                </a:solidFill>
                <a:latin typeface="Calibri" pitchFamily="34" charset="0"/>
                <a:ea typeface="Calibri" pitchFamily="34" charset="-122"/>
                <a:cs typeface="Calibri" pitchFamily="34" charset="-120"/>
              </a:rPr>
              <a:t>workflow 03</a:t>
            </a:r>
            <a:endParaRPr lang="en-US" sz="1200" dirty="0"/>
          </a:p>
        </p:txBody>
      </p:sp>
      <p:sp>
        <p:nvSpPr>
          <p:cNvPr id="20" name="stage link 3"/>
          <p:cNvSpPr/>
          <p:nvPr/>
        </p:nvSpPr>
        <p:spPr>
          <a:xfrm>
            <a:off x="7178040" y="4864608"/>
            <a:ext cx="868680" cy="0"/>
          </a:xfrm>
          <a:prstGeom prst="line">
            <a:avLst/>
          </a:prstGeom>
          <a:noFill/>
          <a:ln w="19050">
            <a:solidFill>
              <a:srgbClr val="3E5C76"/>
            </a:solidFill>
            <a:prstDash val="dash"/>
          </a:ln>
        </p:spPr>
      </p:sp>
      <p:sp>
        <p:nvSpPr>
          <p:cNvPr id="21" name="stage Cite &amp; archive circle"/>
          <p:cNvSpPr/>
          <p:nvPr/>
        </p:nvSpPr>
        <p:spPr>
          <a:xfrm>
            <a:off x="6309360" y="4480560"/>
            <a:ext cx="777240" cy="777240"/>
          </a:xfrm>
          <a:prstGeom prst="ellipse">
            <a:avLst/>
          </a:prstGeom>
          <a:solidFill>
            <a:srgbClr val="1B4965"/>
          </a:solidFill>
          <a:ln w="12700">
            <a:solidFill>
              <a:srgbClr val="1B4965"/>
            </a:solidFill>
            <a:prstDash val="solid"/>
          </a:ln>
        </p:spPr>
      </p:sp>
      <p:pic>
        <p:nvPicPr>
          <p:cNvPr id="22" name="stage Cite &amp; archive icon" descr="stage Cite &amp; archive">    </p:cNvPr>
          <p:cNvPicPr>
            <a:picLocks noChangeAspect="1"/>
          </p:cNvPicPr>
          <p:nvPr/>
        </p:nvPicPr>
        <p:blipFill>
          <a:blip r:embed="rId4"/>
          <a:stretch>
            <a:fillRect/>
          </a:stretch>
        </p:blipFill>
        <p:spPr>
          <a:xfrm>
            <a:off x="6503670" y="4674870"/>
            <a:ext cx="388620" cy="388620"/>
          </a:xfrm>
          <a:prstGeom prst="rect">
            <a:avLst/>
          </a:prstGeom>
        </p:spPr>
      </p:pic>
      <p:sp>
        <p:nvSpPr>
          <p:cNvPr id="23" name="Text 17"/>
          <p:cNvSpPr txBox="1"/>
          <p:nvPr/>
        </p:nvSpPr>
        <p:spPr>
          <a:xfrm>
            <a:off x="5897880" y="5394960"/>
            <a:ext cx="160020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Cite &amp; archive</a:t>
            </a:r>
            <a:endParaRPr lang="en-US" sz="1500" dirty="0"/>
          </a:p>
        </p:txBody>
      </p:sp>
      <p:sp>
        <p:nvSpPr>
          <p:cNvPr id="24" name="Text 18"/>
          <p:cNvSpPr txBox="1"/>
          <p:nvPr/>
        </p:nvSpPr>
        <p:spPr>
          <a:xfrm>
            <a:off x="5897880" y="5715000"/>
            <a:ext cx="1600200" cy="274320"/>
          </a:xfrm>
          <a:prstGeom prst="rect">
            <a:avLst/>
          </a:prstGeom>
          <a:noFill/>
          <a:ln/>
        </p:spPr>
        <p:txBody>
          <a:bodyPr wrap="square" lIns="0" tIns="0" rIns="0" bIns="0" rtlCol="0" anchor="t"/>
          <a:lstStyle/>
          <a:p>
            <a:pPr algn="ctr" indent="0" marL="0">
              <a:buNone/>
            </a:pPr>
            <a:r>
              <a:rPr lang="en-US" sz="1200" dirty="0">
                <a:solidFill>
                  <a:srgbClr val="A9BCCB"/>
                </a:solidFill>
                <a:latin typeface="Calibri" pitchFamily="34" charset="0"/>
                <a:ea typeface="Calibri" pitchFamily="34" charset="-122"/>
                <a:cs typeface="Calibri" pitchFamily="34" charset="-120"/>
              </a:rPr>
              <a:t>workflow 04</a:t>
            </a:r>
            <a:endParaRPr lang="en-US" sz="1200" dirty="0"/>
          </a:p>
        </p:txBody>
      </p:sp>
      <p:sp>
        <p:nvSpPr>
          <p:cNvPr id="25" name="stage link 4"/>
          <p:cNvSpPr/>
          <p:nvPr/>
        </p:nvSpPr>
        <p:spPr>
          <a:xfrm>
            <a:off x="9006840" y="4864608"/>
            <a:ext cx="868680" cy="0"/>
          </a:xfrm>
          <a:prstGeom prst="line">
            <a:avLst/>
          </a:prstGeom>
          <a:noFill/>
          <a:ln w="19050">
            <a:solidFill>
              <a:srgbClr val="3E5C76"/>
            </a:solidFill>
            <a:prstDash val="dash"/>
          </a:ln>
        </p:spPr>
      </p:sp>
      <p:sp>
        <p:nvSpPr>
          <p:cNvPr id="26" name="stage Digest circle"/>
          <p:cNvSpPr/>
          <p:nvPr/>
        </p:nvSpPr>
        <p:spPr>
          <a:xfrm>
            <a:off x="8138160" y="4480560"/>
            <a:ext cx="777240" cy="777240"/>
          </a:xfrm>
          <a:prstGeom prst="ellipse">
            <a:avLst/>
          </a:prstGeom>
          <a:solidFill>
            <a:srgbClr val="C9822B"/>
          </a:solidFill>
          <a:ln w="12700">
            <a:solidFill>
              <a:srgbClr val="C9822B"/>
            </a:solidFill>
            <a:prstDash val="solid"/>
          </a:ln>
        </p:spPr>
      </p:sp>
      <p:pic>
        <p:nvPicPr>
          <p:cNvPr id="27" name="stage Digest icon" descr="stage Digest">    </p:cNvPr>
          <p:cNvPicPr>
            <a:picLocks noChangeAspect="1"/>
          </p:cNvPicPr>
          <p:nvPr/>
        </p:nvPicPr>
        <p:blipFill>
          <a:blip r:embed="rId5"/>
          <a:stretch>
            <a:fillRect/>
          </a:stretch>
        </p:blipFill>
        <p:spPr>
          <a:xfrm>
            <a:off x="8332470" y="4674870"/>
            <a:ext cx="388620" cy="388620"/>
          </a:xfrm>
          <a:prstGeom prst="rect">
            <a:avLst/>
          </a:prstGeom>
        </p:spPr>
      </p:pic>
      <p:sp>
        <p:nvSpPr>
          <p:cNvPr id="28" name="Text 21"/>
          <p:cNvSpPr txBox="1"/>
          <p:nvPr/>
        </p:nvSpPr>
        <p:spPr>
          <a:xfrm>
            <a:off x="7726680" y="5394960"/>
            <a:ext cx="160020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Digest</a:t>
            </a:r>
            <a:endParaRPr lang="en-US" sz="1500" dirty="0"/>
          </a:p>
        </p:txBody>
      </p:sp>
      <p:sp>
        <p:nvSpPr>
          <p:cNvPr id="29" name="Text 22"/>
          <p:cNvSpPr txBox="1"/>
          <p:nvPr/>
        </p:nvSpPr>
        <p:spPr>
          <a:xfrm>
            <a:off x="7726680" y="5715000"/>
            <a:ext cx="1600200" cy="274320"/>
          </a:xfrm>
          <a:prstGeom prst="rect">
            <a:avLst/>
          </a:prstGeom>
          <a:noFill/>
          <a:ln/>
        </p:spPr>
        <p:txBody>
          <a:bodyPr wrap="square" lIns="0" tIns="0" rIns="0" bIns="0" rtlCol="0" anchor="t"/>
          <a:lstStyle/>
          <a:p>
            <a:pPr algn="ctr" indent="0" marL="0">
              <a:buNone/>
            </a:pPr>
            <a:r>
              <a:rPr lang="en-US" sz="1200" dirty="0">
                <a:solidFill>
                  <a:srgbClr val="A9BCCB"/>
                </a:solidFill>
                <a:latin typeface="Calibri" pitchFamily="34" charset="0"/>
                <a:ea typeface="Calibri" pitchFamily="34" charset="-122"/>
                <a:cs typeface="Calibri" pitchFamily="34" charset="-120"/>
              </a:rPr>
              <a:t>workflow 05</a:t>
            </a:r>
            <a:endParaRPr lang="en-US" sz="1200" dirty="0"/>
          </a:p>
        </p:txBody>
      </p:sp>
      <p:sp>
        <p:nvSpPr>
          <p:cNvPr id="30" name="stage Audit circle"/>
          <p:cNvSpPr/>
          <p:nvPr/>
        </p:nvSpPr>
        <p:spPr>
          <a:xfrm>
            <a:off x="9966960" y="4480560"/>
            <a:ext cx="777240" cy="777240"/>
          </a:xfrm>
          <a:prstGeom prst="ellipse">
            <a:avLst/>
          </a:prstGeom>
          <a:solidFill>
            <a:srgbClr val="9B2C2C"/>
          </a:solidFill>
          <a:ln w="12700">
            <a:solidFill>
              <a:srgbClr val="9B2C2C"/>
            </a:solidFill>
            <a:prstDash val="solid"/>
          </a:ln>
        </p:spPr>
      </p:sp>
      <p:pic>
        <p:nvPicPr>
          <p:cNvPr id="31" name="stage Audit icon" descr="stage Audit">    </p:cNvPr>
          <p:cNvPicPr>
            <a:picLocks noChangeAspect="1"/>
          </p:cNvPicPr>
          <p:nvPr/>
        </p:nvPicPr>
        <p:blipFill>
          <a:blip r:embed="rId6"/>
          <a:stretch>
            <a:fillRect/>
          </a:stretch>
        </p:blipFill>
        <p:spPr>
          <a:xfrm>
            <a:off x="10161270" y="4674870"/>
            <a:ext cx="388620" cy="388620"/>
          </a:xfrm>
          <a:prstGeom prst="rect">
            <a:avLst/>
          </a:prstGeom>
        </p:spPr>
      </p:pic>
      <p:sp>
        <p:nvSpPr>
          <p:cNvPr id="32" name="Text 24"/>
          <p:cNvSpPr txBox="1"/>
          <p:nvPr/>
        </p:nvSpPr>
        <p:spPr>
          <a:xfrm>
            <a:off x="9555480" y="5394960"/>
            <a:ext cx="160020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Audit</a:t>
            </a:r>
            <a:endParaRPr lang="en-US" sz="1500" dirty="0"/>
          </a:p>
        </p:txBody>
      </p:sp>
      <p:sp>
        <p:nvSpPr>
          <p:cNvPr id="33" name="Text 25"/>
          <p:cNvSpPr txBox="1"/>
          <p:nvPr/>
        </p:nvSpPr>
        <p:spPr>
          <a:xfrm>
            <a:off x="9555480" y="5715000"/>
            <a:ext cx="1600200" cy="274320"/>
          </a:xfrm>
          <a:prstGeom prst="rect">
            <a:avLst/>
          </a:prstGeom>
          <a:noFill/>
          <a:ln/>
        </p:spPr>
        <p:txBody>
          <a:bodyPr wrap="square" lIns="0" tIns="0" rIns="0" bIns="0" rtlCol="0" anchor="t"/>
          <a:lstStyle/>
          <a:p>
            <a:pPr algn="ctr" indent="0" marL="0">
              <a:buNone/>
            </a:pPr>
            <a:r>
              <a:rPr lang="en-US" sz="1200" dirty="0">
                <a:solidFill>
                  <a:srgbClr val="A9BCCB"/>
                </a:solidFill>
                <a:latin typeface="Calibri" pitchFamily="34" charset="0"/>
                <a:ea typeface="Calibri" pitchFamily="34" charset="-122"/>
                <a:cs typeface="Calibri" pitchFamily="34" charset="-120"/>
              </a:rPr>
              <a:t>workflow 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Keeping up with research is slow, manual and repeated</a:t>
            </a:r>
            <a:endParaRPr lang="en-US" sz="3000" dirty="0"/>
          </a:p>
        </p:txBody>
      </p:sp>
      <p:sp>
        <p:nvSpPr>
          <p:cNvPr id="3" name="pain The same searches, every week circle"/>
          <p:cNvSpPr/>
          <p:nvPr/>
        </p:nvSpPr>
        <p:spPr>
          <a:xfrm>
            <a:off x="548640" y="1325880"/>
            <a:ext cx="640080" cy="640080"/>
          </a:xfrm>
          <a:prstGeom prst="ellipse">
            <a:avLst/>
          </a:prstGeom>
          <a:solidFill>
            <a:srgbClr val="1B4965"/>
          </a:solidFill>
          <a:ln w="12700">
            <a:solidFill>
              <a:srgbClr val="1B4965"/>
            </a:solidFill>
            <a:prstDash val="solid"/>
          </a:ln>
        </p:spPr>
      </p:sp>
      <p:pic>
        <p:nvPicPr>
          <p:cNvPr id="4" name="pain The same searches, every week icon" descr="pain The same searches, every week">    </p:cNvPr>
          <p:cNvPicPr>
            <a:picLocks noChangeAspect="1"/>
          </p:cNvPicPr>
          <p:nvPr/>
        </p:nvPicPr>
        <p:blipFill>
          <a:blip r:embed="rId1"/>
          <a:stretch>
            <a:fillRect/>
          </a:stretch>
        </p:blipFill>
        <p:spPr>
          <a:xfrm>
            <a:off x="708660" y="1485900"/>
            <a:ext cx="320040" cy="320040"/>
          </a:xfrm>
          <a:prstGeom prst="rect">
            <a:avLst/>
          </a:prstGeom>
        </p:spPr>
      </p:pic>
      <p:sp>
        <p:nvSpPr>
          <p:cNvPr id="5" name="Text 2"/>
          <p:cNvSpPr txBox="1"/>
          <p:nvPr/>
        </p:nvSpPr>
        <p:spPr>
          <a:xfrm>
            <a:off x="1371600" y="1307592"/>
            <a:ext cx="5120640"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The same searches, every week</a:t>
            </a:r>
            <a:endParaRPr lang="en-US" sz="1800" dirty="0"/>
          </a:p>
        </p:txBody>
      </p:sp>
      <p:sp>
        <p:nvSpPr>
          <p:cNvPr id="6" name="Text 3"/>
          <p:cNvSpPr txBox="1"/>
          <p:nvPr/>
        </p:nvSpPr>
        <p:spPr>
          <a:xfrm>
            <a:off x="1371600" y="1655064"/>
            <a:ext cx="5120640" cy="3657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Queries are re-typed on arXiv, Semantic Scholar and publisher sites</a:t>
            </a:r>
            <a:endParaRPr lang="en-US" sz="1400" dirty="0"/>
          </a:p>
        </p:txBody>
      </p:sp>
      <p:sp>
        <p:nvSpPr>
          <p:cNvPr id="7" name="pain Too much to read circle"/>
          <p:cNvSpPr/>
          <p:nvPr/>
        </p:nvSpPr>
        <p:spPr>
          <a:xfrm>
            <a:off x="548640" y="2313432"/>
            <a:ext cx="640080" cy="640080"/>
          </a:xfrm>
          <a:prstGeom prst="ellipse">
            <a:avLst/>
          </a:prstGeom>
          <a:solidFill>
            <a:srgbClr val="1B4965"/>
          </a:solidFill>
          <a:ln w="12700">
            <a:solidFill>
              <a:srgbClr val="1B4965"/>
            </a:solidFill>
            <a:prstDash val="solid"/>
          </a:ln>
        </p:spPr>
      </p:sp>
      <p:pic>
        <p:nvPicPr>
          <p:cNvPr id="8" name="pain Too much to read icon" descr="pain Too much to read">    </p:cNvPr>
          <p:cNvPicPr>
            <a:picLocks noChangeAspect="1"/>
          </p:cNvPicPr>
          <p:nvPr/>
        </p:nvPicPr>
        <p:blipFill>
          <a:blip r:embed="rId2"/>
          <a:stretch>
            <a:fillRect/>
          </a:stretch>
        </p:blipFill>
        <p:spPr>
          <a:xfrm>
            <a:off x="708660" y="2473452"/>
            <a:ext cx="320040" cy="320040"/>
          </a:xfrm>
          <a:prstGeom prst="rect">
            <a:avLst/>
          </a:prstGeom>
        </p:spPr>
      </p:pic>
      <p:sp>
        <p:nvSpPr>
          <p:cNvPr id="9" name="Text 5"/>
          <p:cNvSpPr txBox="1"/>
          <p:nvPr/>
        </p:nvSpPr>
        <p:spPr>
          <a:xfrm>
            <a:off x="1371600" y="2295144"/>
            <a:ext cx="5120640"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Too much to read</a:t>
            </a:r>
            <a:endParaRPr lang="en-US" sz="1800" dirty="0"/>
          </a:p>
        </p:txBody>
      </p:sp>
      <p:sp>
        <p:nvSpPr>
          <p:cNvPr id="10" name="Text 6"/>
          <p:cNvSpPr txBox="1"/>
          <p:nvPr/>
        </p:nvSpPr>
        <p:spPr>
          <a:xfrm>
            <a:off x="1371600" y="2642616"/>
            <a:ext cx="5120640" cy="3657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Keyword search returns many papers that only mention the term</a:t>
            </a:r>
            <a:endParaRPr lang="en-US" sz="1400" dirty="0"/>
          </a:p>
        </p:txBody>
      </p:sp>
      <p:sp>
        <p:nvSpPr>
          <p:cNvPr id="11" name="pain Inconsistent notes circle"/>
          <p:cNvSpPr/>
          <p:nvPr/>
        </p:nvSpPr>
        <p:spPr>
          <a:xfrm>
            <a:off x="548640" y="3300984"/>
            <a:ext cx="640080" cy="640080"/>
          </a:xfrm>
          <a:prstGeom prst="ellipse">
            <a:avLst/>
          </a:prstGeom>
          <a:solidFill>
            <a:srgbClr val="1B4965"/>
          </a:solidFill>
          <a:ln w="12700">
            <a:solidFill>
              <a:srgbClr val="1B4965"/>
            </a:solidFill>
            <a:prstDash val="solid"/>
          </a:ln>
        </p:spPr>
      </p:sp>
      <p:pic>
        <p:nvPicPr>
          <p:cNvPr id="12" name="pain Inconsistent notes icon" descr="pain Inconsistent notes">    </p:cNvPr>
          <p:cNvPicPr>
            <a:picLocks noChangeAspect="1"/>
          </p:cNvPicPr>
          <p:nvPr/>
        </p:nvPicPr>
        <p:blipFill>
          <a:blip r:embed="rId3"/>
          <a:stretch>
            <a:fillRect/>
          </a:stretch>
        </p:blipFill>
        <p:spPr>
          <a:xfrm>
            <a:off x="708660" y="3461004"/>
            <a:ext cx="320040" cy="320040"/>
          </a:xfrm>
          <a:prstGeom prst="rect">
            <a:avLst/>
          </a:prstGeom>
        </p:spPr>
      </p:pic>
      <p:sp>
        <p:nvSpPr>
          <p:cNvPr id="13" name="Text 8"/>
          <p:cNvSpPr txBox="1"/>
          <p:nvPr/>
        </p:nvSpPr>
        <p:spPr>
          <a:xfrm>
            <a:off x="1371600" y="3282696"/>
            <a:ext cx="5120640"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Inconsistent notes</a:t>
            </a:r>
            <a:endParaRPr lang="en-US" sz="1800" dirty="0"/>
          </a:p>
        </p:txBody>
      </p:sp>
      <p:sp>
        <p:nvSpPr>
          <p:cNvPr id="14" name="Text 9"/>
          <p:cNvSpPr txBox="1"/>
          <p:nvPr/>
        </p:nvSpPr>
        <p:spPr>
          <a:xfrm>
            <a:off x="1371600" y="3630168"/>
            <a:ext cx="5120640" cy="3657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Summaries miss the method, datasets or limitations</a:t>
            </a:r>
            <a:endParaRPr lang="en-US" sz="1400" dirty="0"/>
          </a:p>
        </p:txBody>
      </p:sp>
      <p:sp>
        <p:nvSpPr>
          <p:cNvPr id="15" name="pain Messy references circle"/>
          <p:cNvSpPr/>
          <p:nvPr/>
        </p:nvSpPr>
        <p:spPr>
          <a:xfrm>
            <a:off x="548640" y="4288536"/>
            <a:ext cx="640080" cy="640080"/>
          </a:xfrm>
          <a:prstGeom prst="ellipse">
            <a:avLst/>
          </a:prstGeom>
          <a:solidFill>
            <a:srgbClr val="1B4965"/>
          </a:solidFill>
          <a:ln w="12700">
            <a:solidFill>
              <a:srgbClr val="1B4965"/>
            </a:solidFill>
            <a:prstDash val="solid"/>
          </a:ln>
        </p:spPr>
      </p:sp>
      <p:pic>
        <p:nvPicPr>
          <p:cNvPr id="16" name="pain Messy references icon" descr="pain Messy references">    </p:cNvPr>
          <p:cNvPicPr>
            <a:picLocks noChangeAspect="1"/>
          </p:cNvPicPr>
          <p:nvPr/>
        </p:nvPicPr>
        <p:blipFill>
          <a:blip r:embed="rId4"/>
          <a:stretch>
            <a:fillRect/>
          </a:stretch>
        </p:blipFill>
        <p:spPr>
          <a:xfrm>
            <a:off x="708660" y="4448556"/>
            <a:ext cx="320040" cy="320040"/>
          </a:xfrm>
          <a:prstGeom prst="rect">
            <a:avLst/>
          </a:prstGeom>
        </p:spPr>
      </p:pic>
      <p:sp>
        <p:nvSpPr>
          <p:cNvPr id="17" name="Text 11"/>
          <p:cNvSpPr txBox="1"/>
          <p:nvPr/>
        </p:nvSpPr>
        <p:spPr>
          <a:xfrm>
            <a:off x="1371600" y="4270248"/>
            <a:ext cx="5120640"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Messy references</a:t>
            </a:r>
            <a:endParaRPr lang="en-US" sz="1800" dirty="0"/>
          </a:p>
        </p:txBody>
      </p:sp>
      <p:sp>
        <p:nvSpPr>
          <p:cNvPr id="18" name="Text 12"/>
          <p:cNvSpPr txBox="1"/>
          <p:nvPr/>
        </p:nvSpPr>
        <p:spPr>
          <a:xfrm>
            <a:off x="1371600" y="4617720"/>
            <a:ext cx="5120640" cy="3657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Hand-copied citations in mixed formats, with duplicates</a:t>
            </a:r>
            <a:endParaRPr lang="en-US" sz="1400" dirty="0"/>
          </a:p>
        </p:txBody>
      </p:sp>
      <p:sp>
        <p:nvSpPr>
          <p:cNvPr id="19" name="pain New work is missed circle"/>
          <p:cNvSpPr/>
          <p:nvPr/>
        </p:nvSpPr>
        <p:spPr>
          <a:xfrm>
            <a:off x="548640" y="5276088"/>
            <a:ext cx="640080" cy="640080"/>
          </a:xfrm>
          <a:prstGeom prst="ellipse">
            <a:avLst/>
          </a:prstGeom>
          <a:solidFill>
            <a:srgbClr val="1B4965"/>
          </a:solidFill>
          <a:ln w="12700">
            <a:solidFill>
              <a:srgbClr val="1B4965"/>
            </a:solidFill>
            <a:prstDash val="solid"/>
          </a:ln>
        </p:spPr>
      </p:sp>
      <p:pic>
        <p:nvPicPr>
          <p:cNvPr id="20" name="pain New work is missed icon" descr="pain New work is missed">    </p:cNvPr>
          <p:cNvPicPr>
            <a:picLocks noChangeAspect="1"/>
          </p:cNvPicPr>
          <p:nvPr/>
        </p:nvPicPr>
        <p:blipFill>
          <a:blip r:embed="rId5"/>
          <a:stretch>
            <a:fillRect/>
          </a:stretch>
        </p:blipFill>
        <p:spPr>
          <a:xfrm>
            <a:off x="708660" y="5436108"/>
            <a:ext cx="320040" cy="320040"/>
          </a:xfrm>
          <a:prstGeom prst="rect">
            <a:avLst/>
          </a:prstGeom>
        </p:spPr>
      </p:pic>
      <p:sp>
        <p:nvSpPr>
          <p:cNvPr id="21" name="Text 14"/>
          <p:cNvSpPr txBox="1"/>
          <p:nvPr/>
        </p:nvSpPr>
        <p:spPr>
          <a:xfrm>
            <a:off x="1371600" y="5257800"/>
            <a:ext cx="5120640"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New work is missed</a:t>
            </a:r>
            <a:endParaRPr lang="en-US" sz="1800" dirty="0"/>
          </a:p>
        </p:txBody>
      </p:sp>
      <p:sp>
        <p:nvSpPr>
          <p:cNvPr id="22" name="Text 15"/>
          <p:cNvSpPr txBox="1"/>
          <p:nvPr/>
        </p:nvSpPr>
        <p:spPr>
          <a:xfrm>
            <a:off x="1371600" y="5605272"/>
            <a:ext cx="5120640" cy="3657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Nobody is notified when a matching paper appears</a:t>
            </a:r>
            <a:endParaRPr lang="en-US" sz="1400" dirty="0"/>
          </a:p>
        </p:txBody>
      </p:sp>
      <p:sp>
        <p:nvSpPr>
          <p:cNvPr id="23" name="stakeholder panel"/>
          <p:cNvSpPr/>
          <p:nvPr/>
        </p:nvSpPr>
        <p:spPr>
          <a:xfrm>
            <a:off x="6949440" y="1280160"/>
            <a:ext cx="4663440" cy="4892040"/>
          </a:xfrm>
          <a:prstGeom prst="roundRect">
            <a:avLst>
              <a:gd name="adj" fmla="val 1569"/>
            </a:avLst>
          </a:prstGeom>
          <a:solidFill>
            <a:srgbClr val="EEF3F5"/>
          </a:solidFill>
          <a:ln w="12700">
            <a:solidFill>
              <a:srgbClr val="EEF3F5"/>
            </a:solidFill>
            <a:prstDash val="solid"/>
          </a:ln>
        </p:spPr>
      </p:sp>
      <p:sp>
        <p:nvSpPr>
          <p:cNvPr id="24" name="Text 17"/>
          <p:cNvSpPr txBox="1"/>
          <p:nvPr/>
        </p:nvSpPr>
        <p:spPr>
          <a:xfrm>
            <a:off x="7223760" y="1463040"/>
            <a:ext cx="4206240" cy="411480"/>
          </a:xfrm>
          <a:prstGeom prst="rect">
            <a:avLst/>
          </a:prstGeom>
          <a:noFill/>
          <a:ln/>
        </p:spPr>
        <p:txBody>
          <a:bodyPr wrap="square" lIns="0" tIns="0" rIns="0" bIns="0" rtlCol="0" anchor="t"/>
          <a:lstStyle/>
          <a:p>
            <a:pPr indent="0" marL="0">
              <a:buNone/>
            </a:pPr>
            <a:r>
              <a:rPr lang="en-US" sz="2000" b="1" dirty="0">
                <a:solidFill>
                  <a:srgbClr val="1B4965"/>
                </a:solidFill>
                <a:latin typeface="Cambria" pitchFamily="34" charset="0"/>
                <a:ea typeface="Cambria" pitchFamily="34" charset="-122"/>
                <a:cs typeface="Cambria" pitchFamily="34" charset="-120"/>
              </a:rPr>
              <a:t>Stakeholders</a:t>
            </a:r>
            <a:endParaRPr lang="en-US" sz="2000" dirty="0"/>
          </a:p>
        </p:txBody>
      </p:sp>
      <p:sp>
        <p:nvSpPr>
          <p:cNvPr id="25" name="Text 18"/>
          <p:cNvSpPr txBox="1"/>
          <p:nvPr/>
        </p:nvSpPr>
        <p:spPr>
          <a:xfrm>
            <a:off x="7223760" y="2057400"/>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Researchers &amp; students</a:t>
            </a:r>
            <a:endParaRPr lang="en-US" sz="1600" dirty="0"/>
          </a:p>
        </p:txBody>
      </p:sp>
      <p:sp>
        <p:nvSpPr>
          <p:cNvPr id="26" name="Text 19"/>
          <p:cNvSpPr txBox="1"/>
          <p:nvPr/>
        </p:nvSpPr>
        <p:spPr>
          <a:xfrm>
            <a:off x="7223760" y="2386584"/>
            <a:ext cx="4206240" cy="54864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relevant papers, trustworthy summaries, ready citations</a:t>
            </a:r>
            <a:endParaRPr lang="en-US" sz="1400" dirty="0"/>
          </a:p>
        </p:txBody>
      </p:sp>
      <p:sp>
        <p:nvSpPr>
          <p:cNvPr id="27" name="Text 20"/>
          <p:cNvSpPr txBox="1"/>
          <p:nvPr/>
        </p:nvSpPr>
        <p:spPr>
          <a:xfrm>
            <a:off x="7223760" y="3063240"/>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Faculty supervisors</a:t>
            </a:r>
            <a:endParaRPr lang="en-US" sz="1600" dirty="0"/>
          </a:p>
        </p:txBody>
      </p:sp>
      <p:sp>
        <p:nvSpPr>
          <p:cNvPr id="28" name="Text 21"/>
          <p:cNvSpPr txBox="1"/>
          <p:nvPr/>
        </p:nvSpPr>
        <p:spPr>
          <a:xfrm>
            <a:off x="7223760" y="3392424"/>
            <a:ext cx="4206240" cy="54864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 quick view of a topic; consistent references</a:t>
            </a:r>
            <a:endParaRPr lang="en-US" sz="1400" dirty="0"/>
          </a:p>
        </p:txBody>
      </p:sp>
      <p:sp>
        <p:nvSpPr>
          <p:cNvPr id="29" name="Text 22"/>
          <p:cNvSpPr txBox="1"/>
          <p:nvPr/>
        </p:nvSpPr>
        <p:spPr>
          <a:xfrm>
            <a:off x="7223760" y="4069080"/>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Lab admin</a:t>
            </a:r>
            <a:endParaRPr lang="en-US" sz="1600" dirty="0"/>
          </a:p>
        </p:txBody>
      </p:sp>
      <p:sp>
        <p:nvSpPr>
          <p:cNvPr id="30" name="Text 23"/>
          <p:cNvSpPr txBox="1"/>
          <p:nvPr/>
        </p:nvSpPr>
        <p:spPr>
          <a:xfrm>
            <a:off x="7223760" y="4398264"/>
            <a:ext cx="4206240" cy="54864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no secrets in code, audit trail, alerts, controlled LLM cost</a:t>
            </a:r>
            <a:endParaRPr lang="en-US" sz="1400" dirty="0"/>
          </a:p>
        </p:txBody>
      </p:sp>
      <p:sp>
        <p:nvSpPr>
          <p:cNvPr id="31" name="Text 24"/>
          <p:cNvSpPr txBox="1"/>
          <p:nvPr/>
        </p:nvSpPr>
        <p:spPr>
          <a:xfrm>
            <a:off x="7223760" y="5074920"/>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Library / knowledge mgmt</a:t>
            </a:r>
            <a:endParaRPr lang="en-US" sz="1600" dirty="0"/>
          </a:p>
        </p:txBody>
      </p:sp>
      <p:sp>
        <p:nvSpPr>
          <p:cNvPr id="32" name="Text 25"/>
          <p:cNvSpPr txBox="1"/>
          <p:nvPr/>
        </p:nvSpPr>
        <p:spPr>
          <a:xfrm>
            <a:off x="7223760" y="5404104"/>
            <a:ext cx="4206240" cy="54864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 searchable repository with stable IDs and PDFs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Each objective in the brief maps to one workflow</a:t>
            </a:r>
            <a:endParaRPr lang="en-US" sz="3000" dirty="0"/>
          </a:p>
        </p:txBody>
      </p:sp>
      <p:sp>
        <p:nvSpPr>
          <p:cNvPr id="3" name="objective card 01"/>
          <p:cNvSpPr/>
          <p:nvPr/>
        </p:nvSpPr>
        <p:spPr>
          <a:xfrm>
            <a:off x="548640" y="1325880"/>
            <a:ext cx="2103120" cy="3794760"/>
          </a:xfrm>
          <a:prstGeom prst="roundRect">
            <a:avLst>
              <a:gd name="adj" fmla="val 3478"/>
            </a:avLst>
          </a:prstGeom>
          <a:solidFill>
            <a:srgbClr val="EEF3F5"/>
          </a:solidFill>
          <a:ln w="12700">
            <a:solidFill>
              <a:srgbClr val="EEF3F5"/>
            </a:solidFill>
            <a:prstDash val="solid"/>
          </a:ln>
        </p:spPr>
      </p:sp>
      <p:sp>
        <p:nvSpPr>
          <p:cNvPr id="4" name="objective 01 circle"/>
          <p:cNvSpPr/>
          <p:nvPr/>
        </p:nvSpPr>
        <p:spPr>
          <a:xfrm>
            <a:off x="777240" y="1554480"/>
            <a:ext cx="685800" cy="685800"/>
          </a:xfrm>
          <a:prstGeom prst="ellipse">
            <a:avLst/>
          </a:prstGeom>
          <a:solidFill>
            <a:srgbClr val="1B4965"/>
          </a:solidFill>
          <a:ln w="12700">
            <a:solidFill>
              <a:srgbClr val="1B4965"/>
            </a:solidFill>
            <a:prstDash val="solid"/>
          </a:ln>
        </p:spPr>
      </p:sp>
      <p:pic>
        <p:nvPicPr>
          <p:cNvPr id="5" name="objective 01 icon" descr="objective 01">    </p:cNvPr>
          <p:cNvPicPr>
            <a:picLocks noChangeAspect="1"/>
          </p:cNvPicPr>
          <p:nvPr/>
        </p:nvPicPr>
        <p:blipFill>
          <a:blip r:embed="rId1"/>
          <a:stretch>
            <a:fillRect/>
          </a:stretch>
        </p:blipFill>
        <p:spPr>
          <a:xfrm>
            <a:off x="948690" y="1725930"/>
            <a:ext cx="342900" cy="342900"/>
          </a:xfrm>
          <a:prstGeom prst="rect">
            <a:avLst/>
          </a:prstGeom>
        </p:spPr>
      </p:pic>
      <p:sp>
        <p:nvSpPr>
          <p:cNvPr id="6" name="Text 3"/>
          <p:cNvSpPr txBox="1"/>
          <p:nvPr/>
        </p:nvSpPr>
        <p:spPr>
          <a:xfrm>
            <a:off x="1572768" y="1719072"/>
            <a:ext cx="1005840" cy="365760"/>
          </a:xfrm>
          <a:prstGeom prst="rect">
            <a:avLst/>
          </a:prstGeom>
          <a:noFill/>
          <a:ln/>
        </p:spPr>
        <p:txBody>
          <a:bodyPr wrap="square" lIns="0" tIns="0" rIns="0" bIns="0" rtlCol="0" anchor="t"/>
          <a:lstStyle/>
          <a:p>
            <a:pPr indent="0" marL="0">
              <a:buNone/>
            </a:pPr>
            <a:r>
              <a:rPr lang="en-US" sz="1300" b="1" dirty="0">
                <a:solidFill>
                  <a:srgbClr val="7A8794"/>
                </a:solidFill>
                <a:latin typeface="Calibri" pitchFamily="34" charset="0"/>
                <a:ea typeface="Calibri" pitchFamily="34" charset="-122"/>
                <a:cs typeface="Calibri" pitchFamily="34" charset="-120"/>
              </a:rPr>
              <a:t>Workflow 01</a:t>
            </a:r>
            <a:endParaRPr lang="en-US" sz="1300" dirty="0"/>
          </a:p>
        </p:txBody>
      </p:sp>
      <p:sp>
        <p:nvSpPr>
          <p:cNvPr id="7" name="Text 4"/>
          <p:cNvSpPr txBox="1"/>
          <p:nvPr/>
        </p:nvSpPr>
        <p:spPr>
          <a:xfrm>
            <a:off x="777240" y="2423160"/>
            <a:ext cx="1691640" cy="8686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Register topics</a:t>
            </a:r>
            <a:endParaRPr lang="en-US" sz="1800" dirty="0"/>
          </a:p>
        </p:txBody>
      </p:sp>
      <p:sp>
        <p:nvSpPr>
          <p:cNvPr id="8" name="Text 5"/>
          <p:cNvSpPr txBox="1"/>
          <p:nvPr/>
        </p:nvSpPr>
        <p:spPr>
          <a:xfrm>
            <a:off x="777240" y="3291840"/>
            <a:ext cx="1691640" cy="17373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Web form + REST API, validation, duplicate check</a:t>
            </a:r>
            <a:endParaRPr lang="en-US" sz="1400" dirty="0"/>
          </a:p>
        </p:txBody>
      </p:sp>
      <p:sp>
        <p:nvSpPr>
          <p:cNvPr id="9" name="objective card 02"/>
          <p:cNvSpPr/>
          <p:nvPr/>
        </p:nvSpPr>
        <p:spPr>
          <a:xfrm>
            <a:off x="2788920" y="1325880"/>
            <a:ext cx="2103120" cy="3794760"/>
          </a:xfrm>
          <a:prstGeom prst="roundRect">
            <a:avLst>
              <a:gd name="adj" fmla="val 3478"/>
            </a:avLst>
          </a:prstGeom>
          <a:solidFill>
            <a:srgbClr val="EEF3F5"/>
          </a:solidFill>
          <a:ln w="12700">
            <a:solidFill>
              <a:srgbClr val="EEF3F5"/>
            </a:solidFill>
            <a:prstDash val="solid"/>
          </a:ln>
        </p:spPr>
      </p:sp>
      <p:sp>
        <p:nvSpPr>
          <p:cNvPr id="10" name="objective 02 circle"/>
          <p:cNvSpPr/>
          <p:nvPr/>
        </p:nvSpPr>
        <p:spPr>
          <a:xfrm>
            <a:off x="3017520" y="1554480"/>
            <a:ext cx="685800" cy="685800"/>
          </a:xfrm>
          <a:prstGeom prst="ellipse">
            <a:avLst/>
          </a:prstGeom>
          <a:solidFill>
            <a:srgbClr val="1B4965"/>
          </a:solidFill>
          <a:ln w="12700">
            <a:solidFill>
              <a:srgbClr val="1B4965"/>
            </a:solidFill>
            <a:prstDash val="solid"/>
          </a:ln>
        </p:spPr>
      </p:sp>
      <p:pic>
        <p:nvPicPr>
          <p:cNvPr id="11" name="objective 02 icon" descr="objective 02">    </p:cNvPr>
          <p:cNvPicPr>
            <a:picLocks noChangeAspect="1"/>
          </p:cNvPicPr>
          <p:nvPr/>
        </p:nvPicPr>
        <p:blipFill>
          <a:blip r:embed="rId2"/>
          <a:stretch>
            <a:fillRect/>
          </a:stretch>
        </p:blipFill>
        <p:spPr>
          <a:xfrm>
            <a:off x="3188970" y="1725930"/>
            <a:ext cx="342900" cy="342900"/>
          </a:xfrm>
          <a:prstGeom prst="rect">
            <a:avLst/>
          </a:prstGeom>
        </p:spPr>
      </p:pic>
      <p:sp>
        <p:nvSpPr>
          <p:cNvPr id="12" name="Text 8"/>
          <p:cNvSpPr txBox="1"/>
          <p:nvPr/>
        </p:nvSpPr>
        <p:spPr>
          <a:xfrm>
            <a:off x="3813048" y="1719072"/>
            <a:ext cx="1005840" cy="365760"/>
          </a:xfrm>
          <a:prstGeom prst="rect">
            <a:avLst/>
          </a:prstGeom>
          <a:noFill/>
          <a:ln/>
        </p:spPr>
        <p:txBody>
          <a:bodyPr wrap="square" lIns="0" tIns="0" rIns="0" bIns="0" rtlCol="0" anchor="t"/>
          <a:lstStyle/>
          <a:p>
            <a:pPr indent="0" marL="0">
              <a:buNone/>
            </a:pPr>
            <a:r>
              <a:rPr lang="en-US" sz="1300" b="1" dirty="0">
                <a:solidFill>
                  <a:srgbClr val="7A8794"/>
                </a:solidFill>
                <a:latin typeface="Calibri" pitchFamily="34" charset="0"/>
                <a:ea typeface="Calibri" pitchFamily="34" charset="-122"/>
                <a:cs typeface="Calibri" pitchFamily="34" charset="-120"/>
              </a:rPr>
              <a:t>Workflow 02</a:t>
            </a:r>
            <a:endParaRPr lang="en-US" sz="1300" dirty="0"/>
          </a:p>
        </p:txBody>
      </p:sp>
      <p:sp>
        <p:nvSpPr>
          <p:cNvPr id="13" name="Text 9"/>
          <p:cNvSpPr txBox="1"/>
          <p:nvPr/>
        </p:nvSpPr>
        <p:spPr>
          <a:xfrm>
            <a:off x="3017520" y="2423160"/>
            <a:ext cx="1691640" cy="8686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Collect papers daily</a:t>
            </a:r>
            <a:endParaRPr lang="en-US" sz="1800" dirty="0"/>
          </a:p>
        </p:txBody>
      </p:sp>
      <p:sp>
        <p:nvSpPr>
          <p:cNvPr id="14" name="Text 10"/>
          <p:cNvSpPr txBox="1"/>
          <p:nvPr/>
        </p:nvSpPr>
        <p:spPr>
          <a:xfrm>
            <a:off x="3017520" y="3291840"/>
            <a:ext cx="1691640" cy="17373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arXiv + Semantic Scholar daily, merged &amp; de-duplicated, AI relevance ≥ 0.70</a:t>
            </a:r>
            <a:endParaRPr lang="en-US" sz="1400" dirty="0"/>
          </a:p>
        </p:txBody>
      </p:sp>
      <p:sp>
        <p:nvSpPr>
          <p:cNvPr id="15" name="objective card 03"/>
          <p:cNvSpPr/>
          <p:nvPr/>
        </p:nvSpPr>
        <p:spPr>
          <a:xfrm>
            <a:off x="5029200" y="1325880"/>
            <a:ext cx="2103120" cy="3794760"/>
          </a:xfrm>
          <a:prstGeom prst="roundRect">
            <a:avLst>
              <a:gd name="adj" fmla="val 3478"/>
            </a:avLst>
          </a:prstGeom>
          <a:solidFill>
            <a:srgbClr val="EEF3F5"/>
          </a:solidFill>
          <a:ln w="12700">
            <a:solidFill>
              <a:srgbClr val="EEF3F5"/>
            </a:solidFill>
            <a:prstDash val="solid"/>
          </a:ln>
        </p:spPr>
      </p:sp>
      <p:sp>
        <p:nvSpPr>
          <p:cNvPr id="16" name="objective 03 circle"/>
          <p:cNvSpPr/>
          <p:nvPr/>
        </p:nvSpPr>
        <p:spPr>
          <a:xfrm>
            <a:off x="5257800" y="1554480"/>
            <a:ext cx="685800" cy="685800"/>
          </a:xfrm>
          <a:prstGeom prst="ellipse">
            <a:avLst/>
          </a:prstGeom>
          <a:solidFill>
            <a:srgbClr val="C9822B"/>
          </a:solidFill>
          <a:ln w="12700">
            <a:solidFill>
              <a:srgbClr val="C9822B"/>
            </a:solidFill>
            <a:prstDash val="solid"/>
          </a:ln>
        </p:spPr>
      </p:sp>
      <p:pic>
        <p:nvPicPr>
          <p:cNvPr id="17" name="objective 03 icon" descr="objective 03">    </p:cNvPr>
          <p:cNvPicPr>
            <a:picLocks noChangeAspect="1"/>
          </p:cNvPicPr>
          <p:nvPr/>
        </p:nvPicPr>
        <p:blipFill>
          <a:blip r:embed="rId3"/>
          <a:stretch>
            <a:fillRect/>
          </a:stretch>
        </p:blipFill>
        <p:spPr>
          <a:xfrm>
            <a:off x="5429250" y="1725930"/>
            <a:ext cx="342900" cy="342900"/>
          </a:xfrm>
          <a:prstGeom prst="rect">
            <a:avLst/>
          </a:prstGeom>
        </p:spPr>
      </p:pic>
      <p:sp>
        <p:nvSpPr>
          <p:cNvPr id="18" name="Text 13"/>
          <p:cNvSpPr txBox="1"/>
          <p:nvPr/>
        </p:nvSpPr>
        <p:spPr>
          <a:xfrm>
            <a:off x="6053328" y="1719072"/>
            <a:ext cx="1005840" cy="365760"/>
          </a:xfrm>
          <a:prstGeom prst="rect">
            <a:avLst/>
          </a:prstGeom>
          <a:noFill/>
          <a:ln/>
        </p:spPr>
        <p:txBody>
          <a:bodyPr wrap="square" lIns="0" tIns="0" rIns="0" bIns="0" rtlCol="0" anchor="t"/>
          <a:lstStyle/>
          <a:p>
            <a:pPr indent="0" marL="0">
              <a:buNone/>
            </a:pPr>
            <a:r>
              <a:rPr lang="en-US" sz="1300" b="1" dirty="0">
                <a:solidFill>
                  <a:srgbClr val="7A8794"/>
                </a:solidFill>
                <a:latin typeface="Calibri" pitchFamily="34" charset="0"/>
                <a:ea typeface="Calibri" pitchFamily="34" charset="-122"/>
                <a:cs typeface="Calibri" pitchFamily="34" charset="-120"/>
              </a:rPr>
              <a:t>Workflow 03</a:t>
            </a:r>
            <a:endParaRPr lang="en-US" sz="1300" dirty="0"/>
          </a:p>
        </p:txBody>
      </p:sp>
      <p:sp>
        <p:nvSpPr>
          <p:cNvPr id="19" name="Text 14"/>
          <p:cNvSpPr txBox="1"/>
          <p:nvPr/>
        </p:nvSpPr>
        <p:spPr>
          <a:xfrm>
            <a:off x="5257800" y="2423160"/>
            <a:ext cx="1691640" cy="8686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AI-powered summaries</a:t>
            </a:r>
            <a:endParaRPr lang="en-US" sz="1800" dirty="0"/>
          </a:p>
        </p:txBody>
      </p:sp>
      <p:sp>
        <p:nvSpPr>
          <p:cNvPr id="20" name="Text 15"/>
          <p:cNvSpPr txBox="1"/>
          <p:nvPr/>
        </p:nvSpPr>
        <p:spPr>
          <a:xfrm>
            <a:off x="5257800" y="3291840"/>
            <a:ext cx="1691640" cy="17373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10-field structured note per paper with GPT-5-mini</a:t>
            </a:r>
            <a:endParaRPr lang="en-US" sz="1400" dirty="0"/>
          </a:p>
        </p:txBody>
      </p:sp>
      <p:sp>
        <p:nvSpPr>
          <p:cNvPr id="21" name="objective card 04"/>
          <p:cNvSpPr/>
          <p:nvPr/>
        </p:nvSpPr>
        <p:spPr>
          <a:xfrm>
            <a:off x="7269480" y="1325880"/>
            <a:ext cx="2103120" cy="3794760"/>
          </a:xfrm>
          <a:prstGeom prst="roundRect">
            <a:avLst>
              <a:gd name="adj" fmla="val 3478"/>
            </a:avLst>
          </a:prstGeom>
          <a:solidFill>
            <a:srgbClr val="EEF3F5"/>
          </a:solidFill>
          <a:ln w="12700">
            <a:solidFill>
              <a:srgbClr val="EEF3F5"/>
            </a:solidFill>
            <a:prstDash val="solid"/>
          </a:ln>
        </p:spPr>
      </p:sp>
      <p:sp>
        <p:nvSpPr>
          <p:cNvPr id="22" name="objective 04 circle"/>
          <p:cNvSpPr/>
          <p:nvPr/>
        </p:nvSpPr>
        <p:spPr>
          <a:xfrm>
            <a:off x="7498080" y="1554480"/>
            <a:ext cx="685800" cy="685800"/>
          </a:xfrm>
          <a:prstGeom prst="ellipse">
            <a:avLst/>
          </a:prstGeom>
          <a:solidFill>
            <a:srgbClr val="1B4965"/>
          </a:solidFill>
          <a:ln w="12700">
            <a:solidFill>
              <a:srgbClr val="1B4965"/>
            </a:solidFill>
            <a:prstDash val="solid"/>
          </a:ln>
        </p:spPr>
      </p:sp>
      <p:pic>
        <p:nvPicPr>
          <p:cNvPr id="23" name="objective 04 icon" descr="objective 04">    </p:cNvPr>
          <p:cNvPicPr>
            <a:picLocks noChangeAspect="1"/>
          </p:cNvPicPr>
          <p:nvPr/>
        </p:nvPicPr>
        <p:blipFill>
          <a:blip r:embed="rId4"/>
          <a:stretch>
            <a:fillRect/>
          </a:stretch>
        </p:blipFill>
        <p:spPr>
          <a:xfrm>
            <a:off x="7669530" y="1725930"/>
            <a:ext cx="342900" cy="342900"/>
          </a:xfrm>
          <a:prstGeom prst="rect">
            <a:avLst/>
          </a:prstGeom>
        </p:spPr>
      </p:pic>
      <p:sp>
        <p:nvSpPr>
          <p:cNvPr id="24" name="Text 18"/>
          <p:cNvSpPr txBox="1"/>
          <p:nvPr/>
        </p:nvSpPr>
        <p:spPr>
          <a:xfrm>
            <a:off x="8293608" y="1719072"/>
            <a:ext cx="1005840" cy="365760"/>
          </a:xfrm>
          <a:prstGeom prst="rect">
            <a:avLst/>
          </a:prstGeom>
          <a:noFill/>
          <a:ln/>
        </p:spPr>
        <p:txBody>
          <a:bodyPr wrap="square" lIns="0" tIns="0" rIns="0" bIns="0" rtlCol="0" anchor="t"/>
          <a:lstStyle/>
          <a:p>
            <a:pPr indent="0" marL="0">
              <a:buNone/>
            </a:pPr>
            <a:r>
              <a:rPr lang="en-US" sz="1300" b="1" dirty="0">
                <a:solidFill>
                  <a:srgbClr val="7A8794"/>
                </a:solidFill>
                <a:latin typeface="Calibri" pitchFamily="34" charset="0"/>
                <a:ea typeface="Calibri" pitchFamily="34" charset="-122"/>
                <a:cs typeface="Calibri" pitchFamily="34" charset="-120"/>
              </a:rPr>
              <a:t>Workflow 04</a:t>
            </a:r>
            <a:endParaRPr lang="en-US" sz="1300" dirty="0"/>
          </a:p>
        </p:txBody>
      </p:sp>
      <p:sp>
        <p:nvSpPr>
          <p:cNvPr id="25" name="Text 19"/>
          <p:cNvSpPr txBox="1"/>
          <p:nvPr/>
        </p:nvSpPr>
        <p:spPr>
          <a:xfrm>
            <a:off x="7498080" y="2423160"/>
            <a:ext cx="1691640" cy="8686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Organise references</a:t>
            </a:r>
            <a:endParaRPr lang="en-US" sz="1800" dirty="0"/>
          </a:p>
        </p:txBody>
      </p:sp>
      <p:sp>
        <p:nvSpPr>
          <p:cNvPr id="26" name="Text 20"/>
          <p:cNvSpPr txBox="1"/>
          <p:nvPr/>
        </p:nvSpPr>
        <p:spPr>
          <a:xfrm>
            <a:off x="7498080" y="3291840"/>
            <a:ext cx="1691640" cy="17373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APA + BibTeX in code, PDF archive, search API</a:t>
            </a:r>
            <a:endParaRPr lang="en-US" sz="1400" dirty="0"/>
          </a:p>
        </p:txBody>
      </p:sp>
      <p:sp>
        <p:nvSpPr>
          <p:cNvPr id="27" name="objective card 05"/>
          <p:cNvSpPr/>
          <p:nvPr/>
        </p:nvSpPr>
        <p:spPr>
          <a:xfrm>
            <a:off x="9509760" y="1325880"/>
            <a:ext cx="2103120" cy="3794760"/>
          </a:xfrm>
          <a:prstGeom prst="roundRect">
            <a:avLst>
              <a:gd name="adj" fmla="val 3478"/>
            </a:avLst>
          </a:prstGeom>
          <a:solidFill>
            <a:srgbClr val="EEF3F5"/>
          </a:solidFill>
          <a:ln w="12700">
            <a:solidFill>
              <a:srgbClr val="EEF3F5"/>
            </a:solidFill>
            <a:prstDash val="solid"/>
          </a:ln>
        </p:spPr>
      </p:sp>
      <p:sp>
        <p:nvSpPr>
          <p:cNvPr id="28" name="objective 05 circle"/>
          <p:cNvSpPr/>
          <p:nvPr/>
        </p:nvSpPr>
        <p:spPr>
          <a:xfrm>
            <a:off x="9738360" y="1554480"/>
            <a:ext cx="685800" cy="685800"/>
          </a:xfrm>
          <a:prstGeom prst="ellipse">
            <a:avLst/>
          </a:prstGeom>
          <a:solidFill>
            <a:srgbClr val="C9822B"/>
          </a:solidFill>
          <a:ln w="12700">
            <a:solidFill>
              <a:srgbClr val="C9822B"/>
            </a:solidFill>
            <a:prstDash val="solid"/>
          </a:ln>
        </p:spPr>
      </p:sp>
      <p:pic>
        <p:nvPicPr>
          <p:cNvPr id="29" name="objective 05 icon" descr="objective 05">    </p:cNvPr>
          <p:cNvPicPr>
            <a:picLocks noChangeAspect="1"/>
          </p:cNvPicPr>
          <p:nvPr/>
        </p:nvPicPr>
        <p:blipFill>
          <a:blip r:embed="rId5"/>
          <a:stretch>
            <a:fillRect/>
          </a:stretch>
        </p:blipFill>
        <p:spPr>
          <a:xfrm>
            <a:off x="9909810" y="1725930"/>
            <a:ext cx="342900" cy="342900"/>
          </a:xfrm>
          <a:prstGeom prst="rect">
            <a:avLst/>
          </a:prstGeom>
        </p:spPr>
      </p:pic>
      <p:sp>
        <p:nvSpPr>
          <p:cNvPr id="30" name="Text 23"/>
          <p:cNvSpPr txBox="1"/>
          <p:nvPr/>
        </p:nvSpPr>
        <p:spPr>
          <a:xfrm>
            <a:off x="10533888" y="1719072"/>
            <a:ext cx="1005840" cy="365760"/>
          </a:xfrm>
          <a:prstGeom prst="rect">
            <a:avLst/>
          </a:prstGeom>
          <a:noFill/>
          <a:ln/>
        </p:spPr>
        <p:txBody>
          <a:bodyPr wrap="square" lIns="0" tIns="0" rIns="0" bIns="0" rtlCol="0" anchor="t"/>
          <a:lstStyle/>
          <a:p>
            <a:pPr indent="0" marL="0">
              <a:buNone/>
            </a:pPr>
            <a:r>
              <a:rPr lang="en-US" sz="1300" b="1" dirty="0">
                <a:solidFill>
                  <a:srgbClr val="7A8794"/>
                </a:solidFill>
                <a:latin typeface="Calibri" pitchFamily="34" charset="0"/>
                <a:ea typeface="Calibri" pitchFamily="34" charset="-122"/>
                <a:cs typeface="Calibri" pitchFamily="34" charset="-120"/>
              </a:rPr>
              <a:t>Workflow 05</a:t>
            </a:r>
            <a:endParaRPr lang="en-US" sz="1300" dirty="0"/>
          </a:p>
        </p:txBody>
      </p:sp>
      <p:sp>
        <p:nvSpPr>
          <p:cNvPr id="31" name="Text 24"/>
          <p:cNvSpPr txBox="1"/>
          <p:nvPr/>
        </p:nvSpPr>
        <p:spPr>
          <a:xfrm>
            <a:off x="9738360" y="2423160"/>
            <a:ext cx="1691640" cy="8686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Track new publications</a:t>
            </a:r>
            <a:endParaRPr lang="en-US" sz="1800" dirty="0"/>
          </a:p>
        </p:txBody>
      </p:sp>
      <p:sp>
        <p:nvSpPr>
          <p:cNvPr id="32" name="Text 25"/>
          <p:cNvSpPr txBox="1"/>
          <p:nvPr/>
        </p:nvSpPr>
        <p:spPr>
          <a:xfrm>
            <a:off x="9738360" y="3291840"/>
            <a:ext cx="1691640" cy="17373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Personal digest: daily, weekly or monthly, with an AI overview</a:t>
            </a:r>
            <a:endParaRPr lang="en-US" sz="1400" dirty="0"/>
          </a:p>
        </p:txBody>
      </p:sp>
      <p:sp>
        <p:nvSpPr>
          <p:cNvPr id="33" name="workflow 06 band"/>
          <p:cNvSpPr/>
          <p:nvPr/>
        </p:nvSpPr>
        <p:spPr>
          <a:xfrm>
            <a:off x="548640" y="5303520"/>
            <a:ext cx="11064240" cy="868680"/>
          </a:xfrm>
          <a:prstGeom prst="roundRect">
            <a:avLst>
              <a:gd name="adj" fmla="val 8421"/>
            </a:avLst>
          </a:prstGeom>
          <a:solidFill>
            <a:srgbClr val="F7E4E4"/>
          </a:solidFill>
          <a:ln w="12700">
            <a:solidFill>
              <a:srgbClr val="F7E4E4"/>
            </a:solidFill>
            <a:prstDash val="solid"/>
          </a:ln>
        </p:spPr>
      </p:sp>
      <p:sp>
        <p:nvSpPr>
          <p:cNvPr id="34" name="objective 06 circle"/>
          <p:cNvSpPr/>
          <p:nvPr/>
        </p:nvSpPr>
        <p:spPr>
          <a:xfrm>
            <a:off x="731520" y="5413248"/>
            <a:ext cx="640080" cy="640080"/>
          </a:xfrm>
          <a:prstGeom prst="ellipse">
            <a:avLst/>
          </a:prstGeom>
          <a:solidFill>
            <a:srgbClr val="9B2C2C"/>
          </a:solidFill>
          <a:ln w="12700">
            <a:solidFill>
              <a:srgbClr val="9B2C2C"/>
            </a:solidFill>
            <a:prstDash val="solid"/>
          </a:ln>
        </p:spPr>
      </p:sp>
      <p:pic>
        <p:nvPicPr>
          <p:cNvPr id="35" name="objective 06 icon" descr="objective 06">    </p:cNvPr>
          <p:cNvPicPr>
            <a:picLocks noChangeAspect="1"/>
          </p:cNvPicPr>
          <p:nvPr/>
        </p:nvPicPr>
        <p:blipFill>
          <a:blip r:embed="rId6"/>
          <a:stretch>
            <a:fillRect/>
          </a:stretch>
        </p:blipFill>
        <p:spPr>
          <a:xfrm>
            <a:off x="891540" y="5573268"/>
            <a:ext cx="320040" cy="320040"/>
          </a:xfrm>
          <a:prstGeom prst="rect">
            <a:avLst/>
          </a:prstGeom>
        </p:spPr>
      </p:pic>
      <p:sp>
        <p:nvSpPr>
          <p:cNvPr id="36" name="Text 28"/>
          <p:cNvSpPr txBox="1"/>
          <p:nvPr/>
        </p:nvSpPr>
        <p:spPr>
          <a:xfrm>
            <a:off x="1554480" y="5468112"/>
            <a:ext cx="9875520" cy="5486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Workflow 06 · Error Handler &amp; Audit Log  </a:t>
            </a:r>
            <a:pPr indent="0" marL="0">
              <a:buNone/>
            </a:pPr>
            <a:r>
              <a:rPr lang="en-US" sz="1500" dirty="0">
                <a:solidFill>
                  <a:schemeClr val="tx1"/>
                </a:solidFill>
                <a:latin typeface="Calibri" pitchFamily="34" charset="0"/>
                <a:ea typeface="Calibri" pitchFamily="34" charset="-122"/>
                <a:cs typeface="Calibri" pitchFamily="34" charset="-120"/>
              </a:rPr>
              <a:t>covers the brief's advanced features: error handling, retries, logging and an audit trail for every run and every failure.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System architecture: 8 workflows, 4 Data Tables, 5 services</a:t>
            </a:r>
            <a:endParaRPr lang="en-US" sz="3000" dirty="0"/>
          </a:p>
        </p:txBody>
      </p:sp>
      <p:pic>
        <p:nvPicPr>
          <p:cNvPr id="3" name="architecture diagram" descr="System architecture diagram">    </p:cNvPr>
          <p:cNvPicPr>
            <a:picLocks noChangeAspect="1"/>
          </p:cNvPicPr>
          <p:nvPr/>
        </p:nvPicPr>
        <p:blipFill>
          <a:blip r:embed="rId1"/>
          <a:stretch>
            <a:fillRect/>
          </a:stretch>
        </p:blipFill>
        <p:spPr>
          <a:xfrm>
            <a:off x="548640" y="1188720"/>
            <a:ext cx="11064240" cy="5008024"/>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Workflows hand off work through status fields, not direct calls</a:t>
            </a:r>
            <a:endParaRPr lang="en-US" sz="3000" dirty="0"/>
          </a:p>
        </p:txBody>
      </p:sp>
      <p:sp>
        <p:nvSpPr>
          <p:cNvPr id="3" name="state Registered"/>
          <p:cNvSpPr/>
          <p:nvPr/>
        </p:nvSpPr>
        <p:spPr>
          <a:xfrm>
            <a:off x="548640" y="1554480"/>
            <a:ext cx="1874520" cy="1417320"/>
          </a:xfrm>
          <a:prstGeom prst="roundRect">
            <a:avLst>
              <a:gd name="adj" fmla="val 5161"/>
            </a:avLst>
          </a:prstGeom>
          <a:solidFill>
            <a:srgbClr val="DCEBEE"/>
          </a:solidFill>
          <a:ln w="12700">
            <a:solidFill>
              <a:srgbClr val="1B4965"/>
            </a:solidFill>
            <a:prstDash val="solid"/>
          </a:ln>
        </p:spPr>
      </p:sp>
      <p:sp>
        <p:nvSpPr>
          <p:cNvPr id="4" name="Text 2"/>
          <p:cNvSpPr txBox="1"/>
          <p:nvPr/>
        </p:nvSpPr>
        <p:spPr>
          <a:xfrm>
            <a:off x="731520" y="1691640"/>
            <a:ext cx="1508760" cy="320040"/>
          </a:xfrm>
          <a:prstGeom prst="rect">
            <a:avLst/>
          </a:prstGeom>
          <a:noFill/>
          <a:ln/>
        </p:spPr>
        <p:txBody>
          <a:bodyPr wrap="square" lIns="0" tIns="0" rIns="0" bIns="0" rtlCol="0" anchor="t"/>
          <a:lstStyle/>
          <a:p>
            <a:pPr indent="0" marL="0">
              <a:buNone/>
            </a:pPr>
            <a:r>
              <a:rPr lang="en-US" sz="1400" b="1" dirty="0">
                <a:solidFill>
                  <a:srgbClr val="7A8794"/>
                </a:solidFill>
                <a:latin typeface="Calibri" pitchFamily="34" charset="0"/>
                <a:ea typeface="Calibri" pitchFamily="34" charset="-122"/>
                <a:cs typeface="Calibri" pitchFamily="34" charset="-120"/>
              </a:rPr>
              <a:t>01</a:t>
            </a:r>
            <a:endParaRPr lang="en-US" sz="1400" dirty="0"/>
          </a:p>
        </p:txBody>
      </p:sp>
      <p:sp>
        <p:nvSpPr>
          <p:cNvPr id="5" name="Text 3"/>
          <p:cNvSpPr txBox="1"/>
          <p:nvPr/>
        </p:nvSpPr>
        <p:spPr>
          <a:xfrm>
            <a:off x="731520" y="1984248"/>
            <a:ext cx="15087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Registered</a:t>
            </a:r>
            <a:endParaRPr lang="en-US" sz="2000" dirty="0"/>
          </a:p>
        </p:txBody>
      </p:sp>
      <p:sp>
        <p:nvSpPr>
          <p:cNvPr id="6" name="Text 4"/>
          <p:cNvSpPr txBox="1"/>
          <p:nvPr/>
        </p:nvSpPr>
        <p:spPr>
          <a:xfrm>
            <a:off x="731520" y="2450592"/>
            <a:ext cx="1508760" cy="365760"/>
          </a:xfrm>
          <a:prstGeom prst="rect">
            <a:avLst/>
          </a:prstGeom>
          <a:noFill/>
          <a:ln/>
        </p:spPr>
        <p:txBody>
          <a:bodyPr wrap="square" lIns="0" tIns="0" rIns="0" bIns="0" rtlCol="0" anchor="t"/>
          <a:lstStyle/>
          <a:p>
            <a:pPr indent="0" marL="0">
              <a:buNone/>
            </a:pPr>
            <a:r>
              <a:rPr lang="en-US" sz="1300" dirty="0">
                <a:solidFill>
                  <a:srgbClr val="1B4965"/>
                </a:solidFill>
                <a:latin typeface="Courier New" pitchFamily="34" charset="0"/>
                <a:ea typeface="Courier New" pitchFamily="34" charset="-122"/>
                <a:cs typeface="Courier New" pitchFamily="34" charset="-120"/>
              </a:rPr>
              <a:t>active=true</a:t>
            </a:r>
            <a:endParaRPr lang="en-US" sz="1300" dirty="0"/>
          </a:p>
        </p:txBody>
      </p:sp>
      <p:sp>
        <p:nvSpPr>
          <p:cNvPr id="7" name="flow arrow 0"/>
          <p:cNvSpPr/>
          <p:nvPr/>
        </p:nvSpPr>
        <p:spPr>
          <a:xfrm>
            <a:off x="2496312" y="2103120"/>
            <a:ext cx="274320" cy="320040"/>
          </a:xfrm>
          <a:prstGeom prst="rightArrow">
            <a:avLst/>
          </a:prstGeom>
          <a:solidFill>
            <a:srgbClr val="7A8794"/>
          </a:solidFill>
          <a:ln w="12700">
            <a:solidFill>
              <a:srgbClr val="7A8794"/>
            </a:solidFill>
            <a:prstDash val="solid"/>
          </a:ln>
        </p:spPr>
      </p:sp>
      <p:sp>
        <p:nvSpPr>
          <p:cNvPr id="8" name="state Collected"/>
          <p:cNvSpPr/>
          <p:nvPr/>
        </p:nvSpPr>
        <p:spPr>
          <a:xfrm>
            <a:off x="2843784" y="1554480"/>
            <a:ext cx="1874520" cy="1417320"/>
          </a:xfrm>
          <a:prstGeom prst="roundRect">
            <a:avLst>
              <a:gd name="adj" fmla="val 5161"/>
            </a:avLst>
          </a:prstGeom>
          <a:solidFill>
            <a:srgbClr val="FFF4E0"/>
          </a:solidFill>
          <a:ln w="12700">
            <a:solidFill>
              <a:srgbClr val="C9822B"/>
            </a:solidFill>
            <a:prstDash val="solid"/>
          </a:ln>
        </p:spPr>
      </p:sp>
      <p:sp>
        <p:nvSpPr>
          <p:cNvPr id="9" name="Text 7"/>
          <p:cNvSpPr txBox="1"/>
          <p:nvPr/>
        </p:nvSpPr>
        <p:spPr>
          <a:xfrm>
            <a:off x="3026664" y="1691640"/>
            <a:ext cx="1508760" cy="320040"/>
          </a:xfrm>
          <a:prstGeom prst="rect">
            <a:avLst/>
          </a:prstGeom>
          <a:noFill/>
          <a:ln/>
        </p:spPr>
        <p:txBody>
          <a:bodyPr wrap="square" lIns="0" tIns="0" rIns="0" bIns="0" rtlCol="0" anchor="t"/>
          <a:lstStyle/>
          <a:p>
            <a:pPr indent="0" marL="0">
              <a:buNone/>
            </a:pPr>
            <a:r>
              <a:rPr lang="en-US" sz="1400" b="1" dirty="0">
                <a:solidFill>
                  <a:srgbClr val="7A8794"/>
                </a:solidFill>
                <a:latin typeface="Calibri" pitchFamily="34" charset="0"/>
                <a:ea typeface="Calibri" pitchFamily="34" charset="-122"/>
                <a:cs typeface="Calibri" pitchFamily="34" charset="-120"/>
              </a:rPr>
              <a:t>02</a:t>
            </a:r>
            <a:endParaRPr lang="en-US" sz="1400" dirty="0"/>
          </a:p>
        </p:txBody>
      </p:sp>
      <p:sp>
        <p:nvSpPr>
          <p:cNvPr id="10" name="Text 8"/>
          <p:cNvSpPr txBox="1"/>
          <p:nvPr/>
        </p:nvSpPr>
        <p:spPr>
          <a:xfrm>
            <a:off x="3026664" y="1984248"/>
            <a:ext cx="15087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Collected</a:t>
            </a:r>
            <a:endParaRPr lang="en-US" sz="2000" dirty="0"/>
          </a:p>
        </p:txBody>
      </p:sp>
      <p:sp>
        <p:nvSpPr>
          <p:cNvPr id="11" name="Text 9"/>
          <p:cNvSpPr txBox="1"/>
          <p:nvPr/>
        </p:nvSpPr>
        <p:spPr>
          <a:xfrm>
            <a:off x="3026664" y="2450592"/>
            <a:ext cx="1508760" cy="365760"/>
          </a:xfrm>
          <a:prstGeom prst="rect">
            <a:avLst/>
          </a:prstGeom>
          <a:noFill/>
          <a:ln/>
        </p:spPr>
        <p:txBody>
          <a:bodyPr wrap="square" lIns="0" tIns="0" rIns="0" bIns="0" rtlCol="0" anchor="t"/>
          <a:lstStyle/>
          <a:p>
            <a:pPr indent="0" marL="0">
              <a:buNone/>
            </a:pPr>
            <a:r>
              <a:rPr lang="en-US" sz="1300" dirty="0">
                <a:solidFill>
                  <a:srgbClr val="1B4965"/>
                </a:solidFill>
                <a:latin typeface="Courier New" pitchFamily="34" charset="0"/>
                <a:ea typeface="Courier New" pitchFamily="34" charset="-122"/>
                <a:cs typeface="Courier New" pitchFamily="34" charset="-120"/>
              </a:rPr>
              <a:t>pending_ai</a:t>
            </a:r>
            <a:endParaRPr lang="en-US" sz="1300" dirty="0"/>
          </a:p>
        </p:txBody>
      </p:sp>
      <p:sp>
        <p:nvSpPr>
          <p:cNvPr id="12" name="flow arrow 1"/>
          <p:cNvSpPr/>
          <p:nvPr/>
        </p:nvSpPr>
        <p:spPr>
          <a:xfrm>
            <a:off x="4791456" y="2103120"/>
            <a:ext cx="274320" cy="320040"/>
          </a:xfrm>
          <a:prstGeom prst="rightArrow">
            <a:avLst/>
          </a:prstGeom>
          <a:solidFill>
            <a:srgbClr val="7A8794"/>
          </a:solidFill>
          <a:ln w="12700">
            <a:solidFill>
              <a:srgbClr val="7A8794"/>
            </a:solidFill>
            <a:prstDash val="solid"/>
          </a:ln>
        </p:spPr>
      </p:sp>
      <p:sp>
        <p:nvSpPr>
          <p:cNvPr id="13" name="state Summarised"/>
          <p:cNvSpPr/>
          <p:nvPr/>
        </p:nvSpPr>
        <p:spPr>
          <a:xfrm>
            <a:off x="5138928" y="1554480"/>
            <a:ext cx="1874520" cy="1417320"/>
          </a:xfrm>
          <a:prstGeom prst="roundRect">
            <a:avLst>
              <a:gd name="adj" fmla="val 5161"/>
            </a:avLst>
          </a:prstGeom>
          <a:solidFill>
            <a:srgbClr val="DCEBEE"/>
          </a:solidFill>
          <a:ln w="12700">
            <a:solidFill>
              <a:srgbClr val="1B4965"/>
            </a:solidFill>
            <a:prstDash val="solid"/>
          </a:ln>
        </p:spPr>
      </p:sp>
      <p:sp>
        <p:nvSpPr>
          <p:cNvPr id="14" name="Text 12"/>
          <p:cNvSpPr txBox="1"/>
          <p:nvPr/>
        </p:nvSpPr>
        <p:spPr>
          <a:xfrm>
            <a:off x="5321808" y="1691640"/>
            <a:ext cx="1508760" cy="320040"/>
          </a:xfrm>
          <a:prstGeom prst="rect">
            <a:avLst/>
          </a:prstGeom>
          <a:noFill/>
          <a:ln/>
        </p:spPr>
        <p:txBody>
          <a:bodyPr wrap="square" lIns="0" tIns="0" rIns="0" bIns="0" rtlCol="0" anchor="t"/>
          <a:lstStyle/>
          <a:p>
            <a:pPr indent="0" marL="0">
              <a:buNone/>
            </a:pPr>
            <a:r>
              <a:rPr lang="en-US" sz="1400" b="1" dirty="0">
                <a:solidFill>
                  <a:srgbClr val="7A8794"/>
                </a:solidFill>
                <a:latin typeface="Calibri" pitchFamily="34" charset="0"/>
                <a:ea typeface="Calibri" pitchFamily="34" charset="-122"/>
                <a:cs typeface="Calibri" pitchFamily="34" charset="-120"/>
              </a:rPr>
              <a:t>03</a:t>
            </a:r>
            <a:endParaRPr lang="en-US" sz="1400" dirty="0"/>
          </a:p>
        </p:txBody>
      </p:sp>
      <p:sp>
        <p:nvSpPr>
          <p:cNvPr id="15" name="Text 13"/>
          <p:cNvSpPr txBox="1"/>
          <p:nvPr/>
        </p:nvSpPr>
        <p:spPr>
          <a:xfrm>
            <a:off x="5321808" y="1984248"/>
            <a:ext cx="15087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Summarised</a:t>
            </a:r>
            <a:endParaRPr lang="en-US" sz="2000" dirty="0"/>
          </a:p>
        </p:txBody>
      </p:sp>
      <p:sp>
        <p:nvSpPr>
          <p:cNvPr id="16" name="Text 14"/>
          <p:cNvSpPr txBox="1"/>
          <p:nvPr/>
        </p:nvSpPr>
        <p:spPr>
          <a:xfrm>
            <a:off x="5321808" y="2450592"/>
            <a:ext cx="1508760" cy="365760"/>
          </a:xfrm>
          <a:prstGeom prst="rect">
            <a:avLst/>
          </a:prstGeom>
          <a:noFill/>
          <a:ln/>
        </p:spPr>
        <p:txBody>
          <a:bodyPr wrap="square" lIns="0" tIns="0" rIns="0" bIns="0" rtlCol="0" anchor="t"/>
          <a:lstStyle/>
          <a:p>
            <a:pPr indent="0" marL="0">
              <a:buNone/>
            </a:pPr>
            <a:r>
              <a:rPr lang="en-US" sz="1300" dirty="0">
                <a:solidFill>
                  <a:srgbClr val="1B4965"/>
                </a:solidFill>
                <a:latin typeface="Courier New" pitchFamily="34" charset="0"/>
                <a:ea typeface="Courier New" pitchFamily="34" charset="-122"/>
                <a:cs typeface="Courier New" pitchFamily="34" charset="-120"/>
              </a:rPr>
              <a:t>summarized</a:t>
            </a:r>
            <a:endParaRPr lang="en-US" sz="1300" dirty="0"/>
          </a:p>
        </p:txBody>
      </p:sp>
      <p:sp>
        <p:nvSpPr>
          <p:cNvPr id="17" name="flow arrow 2"/>
          <p:cNvSpPr/>
          <p:nvPr/>
        </p:nvSpPr>
        <p:spPr>
          <a:xfrm>
            <a:off x="7086600" y="2103120"/>
            <a:ext cx="274320" cy="320040"/>
          </a:xfrm>
          <a:prstGeom prst="rightArrow">
            <a:avLst/>
          </a:prstGeom>
          <a:solidFill>
            <a:srgbClr val="7A8794"/>
          </a:solidFill>
          <a:ln w="12700">
            <a:solidFill>
              <a:srgbClr val="7A8794"/>
            </a:solidFill>
            <a:prstDash val="solid"/>
          </a:ln>
        </p:spPr>
      </p:sp>
      <p:sp>
        <p:nvSpPr>
          <p:cNvPr id="18" name="state Archived"/>
          <p:cNvSpPr/>
          <p:nvPr/>
        </p:nvSpPr>
        <p:spPr>
          <a:xfrm>
            <a:off x="7434072" y="1554480"/>
            <a:ext cx="1874520" cy="1417320"/>
          </a:xfrm>
          <a:prstGeom prst="roundRect">
            <a:avLst>
              <a:gd name="adj" fmla="val 5161"/>
            </a:avLst>
          </a:prstGeom>
          <a:solidFill>
            <a:srgbClr val="FFF4E0"/>
          </a:solidFill>
          <a:ln w="12700">
            <a:solidFill>
              <a:srgbClr val="C9822B"/>
            </a:solidFill>
            <a:prstDash val="solid"/>
          </a:ln>
        </p:spPr>
      </p:sp>
      <p:sp>
        <p:nvSpPr>
          <p:cNvPr id="19" name="Text 17"/>
          <p:cNvSpPr txBox="1"/>
          <p:nvPr/>
        </p:nvSpPr>
        <p:spPr>
          <a:xfrm>
            <a:off x="7616952" y="1691640"/>
            <a:ext cx="1508760" cy="320040"/>
          </a:xfrm>
          <a:prstGeom prst="rect">
            <a:avLst/>
          </a:prstGeom>
          <a:noFill/>
          <a:ln/>
        </p:spPr>
        <p:txBody>
          <a:bodyPr wrap="square" lIns="0" tIns="0" rIns="0" bIns="0" rtlCol="0" anchor="t"/>
          <a:lstStyle/>
          <a:p>
            <a:pPr indent="0" marL="0">
              <a:buNone/>
            </a:pPr>
            <a:r>
              <a:rPr lang="en-US" sz="1400" b="1" dirty="0">
                <a:solidFill>
                  <a:srgbClr val="7A8794"/>
                </a:solidFill>
                <a:latin typeface="Calibri" pitchFamily="34" charset="0"/>
                <a:ea typeface="Calibri" pitchFamily="34" charset="-122"/>
                <a:cs typeface="Calibri" pitchFamily="34" charset="-120"/>
              </a:rPr>
              <a:t>04</a:t>
            </a:r>
            <a:endParaRPr lang="en-US" sz="1400" dirty="0"/>
          </a:p>
        </p:txBody>
      </p:sp>
      <p:sp>
        <p:nvSpPr>
          <p:cNvPr id="20" name="Text 18"/>
          <p:cNvSpPr txBox="1"/>
          <p:nvPr/>
        </p:nvSpPr>
        <p:spPr>
          <a:xfrm>
            <a:off x="7616952" y="1984248"/>
            <a:ext cx="15087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Archived</a:t>
            </a:r>
            <a:endParaRPr lang="en-US" sz="2000" dirty="0"/>
          </a:p>
        </p:txBody>
      </p:sp>
      <p:sp>
        <p:nvSpPr>
          <p:cNvPr id="21" name="Text 19"/>
          <p:cNvSpPr txBox="1"/>
          <p:nvPr/>
        </p:nvSpPr>
        <p:spPr>
          <a:xfrm>
            <a:off x="7616952" y="2450592"/>
            <a:ext cx="1508760" cy="365760"/>
          </a:xfrm>
          <a:prstGeom prst="rect">
            <a:avLst/>
          </a:prstGeom>
          <a:noFill/>
          <a:ln/>
        </p:spPr>
        <p:txBody>
          <a:bodyPr wrap="square" lIns="0" tIns="0" rIns="0" bIns="0" rtlCol="0" anchor="t"/>
          <a:lstStyle/>
          <a:p>
            <a:pPr indent="0" marL="0">
              <a:buNone/>
            </a:pPr>
            <a:r>
              <a:rPr lang="en-US" sz="1300" dirty="0">
                <a:solidFill>
                  <a:srgbClr val="1B4965"/>
                </a:solidFill>
                <a:latin typeface="Courier New" pitchFamily="34" charset="0"/>
                <a:ea typeface="Courier New" pitchFamily="34" charset="-122"/>
                <a:cs typeface="Courier New" pitchFamily="34" charset="-120"/>
              </a:rPr>
              <a:t>archived=true</a:t>
            </a:r>
            <a:endParaRPr lang="en-US" sz="1300" dirty="0"/>
          </a:p>
        </p:txBody>
      </p:sp>
      <p:sp>
        <p:nvSpPr>
          <p:cNvPr id="22" name="flow arrow 3"/>
          <p:cNvSpPr/>
          <p:nvPr/>
        </p:nvSpPr>
        <p:spPr>
          <a:xfrm>
            <a:off x="9381744" y="2103120"/>
            <a:ext cx="274320" cy="320040"/>
          </a:xfrm>
          <a:prstGeom prst="rightArrow">
            <a:avLst/>
          </a:prstGeom>
          <a:solidFill>
            <a:srgbClr val="7A8794"/>
          </a:solidFill>
          <a:ln w="12700">
            <a:solidFill>
              <a:srgbClr val="7A8794"/>
            </a:solidFill>
            <a:prstDash val="solid"/>
          </a:ln>
        </p:spPr>
      </p:sp>
      <p:sp>
        <p:nvSpPr>
          <p:cNvPr id="23" name="state Delivered"/>
          <p:cNvSpPr/>
          <p:nvPr/>
        </p:nvSpPr>
        <p:spPr>
          <a:xfrm>
            <a:off x="9729216" y="1554480"/>
            <a:ext cx="1874520" cy="1417320"/>
          </a:xfrm>
          <a:prstGeom prst="roundRect">
            <a:avLst>
              <a:gd name="adj" fmla="val 5161"/>
            </a:avLst>
          </a:prstGeom>
          <a:solidFill>
            <a:srgbClr val="DCEBEE"/>
          </a:solidFill>
          <a:ln w="12700">
            <a:solidFill>
              <a:srgbClr val="1B4965"/>
            </a:solidFill>
            <a:prstDash val="solid"/>
          </a:ln>
        </p:spPr>
      </p:sp>
      <p:sp>
        <p:nvSpPr>
          <p:cNvPr id="24" name="Text 22"/>
          <p:cNvSpPr txBox="1"/>
          <p:nvPr/>
        </p:nvSpPr>
        <p:spPr>
          <a:xfrm>
            <a:off x="9912096" y="1691640"/>
            <a:ext cx="1508760" cy="320040"/>
          </a:xfrm>
          <a:prstGeom prst="rect">
            <a:avLst/>
          </a:prstGeom>
          <a:noFill/>
          <a:ln/>
        </p:spPr>
        <p:txBody>
          <a:bodyPr wrap="square" lIns="0" tIns="0" rIns="0" bIns="0" rtlCol="0" anchor="t"/>
          <a:lstStyle/>
          <a:p>
            <a:pPr indent="0" marL="0">
              <a:buNone/>
            </a:pPr>
            <a:r>
              <a:rPr lang="en-US" sz="1400" b="1" dirty="0">
                <a:solidFill>
                  <a:srgbClr val="7A8794"/>
                </a:solidFill>
                <a:latin typeface="Calibri" pitchFamily="34" charset="0"/>
                <a:ea typeface="Calibri" pitchFamily="34" charset="-122"/>
                <a:cs typeface="Calibri" pitchFamily="34" charset="-120"/>
              </a:rPr>
              <a:t>05</a:t>
            </a:r>
            <a:endParaRPr lang="en-US" sz="1400" dirty="0"/>
          </a:p>
        </p:txBody>
      </p:sp>
      <p:sp>
        <p:nvSpPr>
          <p:cNvPr id="25" name="Text 23"/>
          <p:cNvSpPr txBox="1"/>
          <p:nvPr/>
        </p:nvSpPr>
        <p:spPr>
          <a:xfrm>
            <a:off x="9912096" y="1984248"/>
            <a:ext cx="15087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Delivered</a:t>
            </a:r>
            <a:endParaRPr lang="en-US" sz="2000" dirty="0"/>
          </a:p>
        </p:txBody>
      </p:sp>
      <p:sp>
        <p:nvSpPr>
          <p:cNvPr id="26" name="Text 24"/>
          <p:cNvSpPr txBox="1"/>
          <p:nvPr/>
        </p:nvSpPr>
        <p:spPr>
          <a:xfrm>
            <a:off x="9912096" y="2450592"/>
            <a:ext cx="1508760" cy="365760"/>
          </a:xfrm>
          <a:prstGeom prst="rect">
            <a:avLst/>
          </a:prstGeom>
          <a:noFill/>
          <a:ln/>
        </p:spPr>
        <p:txBody>
          <a:bodyPr wrap="square" lIns="0" tIns="0" rIns="0" bIns="0" rtlCol="0" anchor="t"/>
          <a:lstStyle/>
          <a:p>
            <a:pPr indent="0" marL="0">
              <a:buNone/>
            </a:pPr>
            <a:r>
              <a:rPr lang="en-US" sz="1300" dirty="0">
                <a:solidFill>
                  <a:srgbClr val="1B4965"/>
                </a:solidFill>
                <a:latin typeface="Courier New" pitchFamily="34" charset="0"/>
                <a:ea typeface="Courier New" pitchFamily="34" charset="-122"/>
                <a:cs typeface="Courier New" pitchFamily="34" charset="-120"/>
              </a:rPr>
              <a:t>digested=true</a:t>
            </a:r>
            <a:endParaRPr lang="en-US" sz="1300" dirty="0"/>
          </a:p>
        </p:txBody>
      </p:sp>
      <p:sp>
        <p:nvSpPr>
          <p:cNvPr id="27" name="Text 25"/>
          <p:cNvSpPr txBox="1"/>
          <p:nvPr/>
        </p:nvSpPr>
        <p:spPr>
          <a:xfrm>
            <a:off x="548640" y="3200400"/>
            <a:ext cx="11064240" cy="411480"/>
          </a:xfrm>
          <a:prstGeom prst="rect">
            <a:avLst/>
          </a:prstGeom>
          <a:noFill/>
          <a:ln/>
        </p:spPr>
        <p:txBody>
          <a:bodyPr wrap="square" lIns="0" tIns="0" rIns="0" bIns="0" rtlCol="0" anchor="t"/>
          <a:lstStyle/>
          <a:p>
            <a:pPr indent="0" marL="0">
              <a:buNone/>
            </a:pPr>
            <a:r>
              <a:rPr lang="en-US" sz="1600" dirty="0">
                <a:solidFill>
                  <a:srgbClr val="4A5A6A"/>
                </a:solidFill>
                <a:latin typeface="Calibri" pitchFamily="34" charset="0"/>
                <a:ea typeface="Calibri" pitchFamily="34" charset="-122"/>
                <a:cs typeface="Calibri" pitchFamily="34" charset="-120"/>
              </a:rPr>
              <a:t>Each workflow reads rows in one state from the Data Tables, does its job and writes the next state.</a:t>
            </a:r>
            <a:endParaRPr lang="en-US" sz="1600" dirty="0"/>
          </a:p>
        </p:txBody>
      </p:sp>
      <p:sp>
        <p:nvSpPr>
          <p:cNvPr id="28" name="benefit Independent stages"/>
          <p:cNvSpPr/>
          <p:nvPr/>
        </p:nvSpPr>
        <p:spPr>
          <a:xfrm>
            <a:off x="548640" y="3886200"/>
            <a:ext cx="3566160" cy="1920240"/>
          </a:xfrm>
          <a:prstGeom prst="roundRect">
            <a:avLst>
              <a:gd name="adj" fmla="val 3810"/>
            </a:avLst>
          </a:prstGeom>
          <a:solidFill>
            <a:srgbClr val="EEF3F5"/>
          </a:solidFill>
          <a:ln w="12700">
            <a:solidFill>
              <a:srgbClr val="EEF3F5"/>
            </a:solidFill>
            <a:prstDash val="solid"/>
          </a:ln>
        </p:spPr>
      </p:sp>
      <p:sp>
        <p:nvSpPr>
          <p:cNvPr id="29" name="benefit Independent stages circle"/>
          <p:cNvSpPr/>
          <p:nvPr/>
        </p:nvSpPr>
        <p:spPr>
          <a:xfrm>
            <a:off x="777240" y="4114800"/>
            <a:ext cx="594360" cy="594360"/>
          </a:xfrm>
          <a:prstGeom prst="ellipse">
            <a:avLst/>
          </a:prstGeom>
          <a:solidFill>
            <a:srgbClr val="1B4965"/>
          </a:solidFill>
          <a:ln w="12700">
            <a:solidFill>
              <a:srgbClr val="1B4965"/>
            </a:solidFill>
            <a:prstDash val="solid"/>
          </a:ln>
        </p:spPr>
      </p:sp>
      <p:pic>
        <p:nvPicPr>
          <p:cNvPr id="30" name="benefit Independent stages icon" descr="benefit Independent stages">    </p:cNvPr>
          <p:cNvPicPr>
            <a:picLocks noChangeAspect="1"/>
          </p:cNvPicPr>
          <p:nvPr/>
        </p:nvPicPr>
        <p:blipFill>
          <a:blip r:embed="rId1"/>
          <a:stretch>
            <a:fillRect/>
          </a:stretch>
        </p:blipFill>
        <p:spPr>
          <a:xfrm>
            <a:off x="925830" y="4263390"/>
            <a:ext cx="297180" cy="297180"/>
          </a:xfrm>
          <a:prstGeom prst="rect">
            <a:avLst/>
          </a:prstGeom>
        </p:spPr>
      </p:pic>
      <p:sp>
        <p:nvSpPr>
          <p:cNvPr id="31" name="Text 28"/>
          <p:cNvSpPr txBox="1"/>
          <p:nvPr/>
        </p:nvSpPr>
        <p:spPr>
          <a:xfrm>
            <a:off x="1508760" y="4206240"/>
            <a:ext cx="246888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Independent stages</a:t>
            </a:r>
            <a:endParaRPr lang="en-US" sz="1800" dirty="0"/>
          </a:p>
        </p:txBody>
      </p:sp>
      <p:sp>
        <p:nvSpPr>
          <p:cNvPr id="32" name="Text 29"/>
          <p:cNvSpPr txBox="1"/>
          <p:nvPr/>
        </p:nvSpPr>
        <p:spPr>
          <a:xfrm>
            <a:off x="777240" y="4892040"/>
            <a:ext cx="3154680" cy="109728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Each workflow has its own schedule and can be re-run or debugged alone.</a:t>
            </a:r>
            <a:endParaRPr lang="en-US" sz="1400" dirty="0"/>
          </a:p>
        </p:txBody>
      </p:sp>
      <p:sp>
        <p:nvSpPr>
          <p:cNvPr id="33" name="benefit Failures stay contained"/>
          <p:cNvSpPr/>
          <p:nvPr/>
        </p:nvSpPr>
        <p:spPr>
          <a:xfrm>
            <a:off x="4297680" y="3886200"/>
            <a:ext cx="3566160" cy="1920240"/>
          </a:xfrm>
          <a:prstGeom prst="roundRect">
            <a:avLst>
              <a:gd name="adj" fmla="val 3810"/>
            </a:avLst>
          </a:prstGeom>
          <a:solidFill>
            <a:srgbClr val="EEF3F5"/>
          </a:solidFill>
          <a:ln w="12700">
            <a:solidFill>
              <a:srgbClr val="EEF3F5"/>
            </a:solidFill>
            <a:prstDash val="solid"/>
          </a:ln>
        </p:spPr>
      </p:sp>
      <p:sp>
        <p:nvSpPr>
          <p:cNvPr id="34" name="benefit Failures stay contained circle"/>
          <p:cNvSpPr/>
          <p:nvPr/>
        </p:nvSpPr>
        <p:spPr>
          <a:xfrm>
            <a:off x="4526280" y="4114800"/>
            <a:ext cx="594360" cy="594360"/>
          </a:xfrm>
          <a:prstGeom prst="ellipse">
            <a:avLst/>
          </a:prstGeom>
          <a:solidFill>
            <a:srgbClr val="1B4965"/>
          </a:solidFill>
          <a:ln w="12700">
            <a:solidFill>
              <a:srgbClr val="1B4965"/>
            </a:solidFill>
            <a:prstDash val="solid"/>
          </a:ln>
        </p:spPr>
      </p:sp>
      <p:pic>
        <p:nvPicPr>
          <p:cNvPr id="35" name="benefit Failures stay contained icon" descr="benefit Failures stay contained">    </p:cNvPr>
          <p:cNvPicPr>
            <a:picLocks noChangeAspect="1"/>
          </p:cNvPicPr>
          <p:nvPr/>
        </p:nvPicPr>
        <p:blipFill>
          <a:blip r:embed="rId2"/>
          <a:stretch>
            <a:fillRect/>
          </a:stretch>
        </p:blipFill>
        <p:spPr>
          <a:xfrm>
            <a:off x="4674870" y="4263390"/>
            <a:ext cx="297180" cy="297180"/>
          </a:xfrm>
          <a:prstGeom prst="rect">
            <a:avLst/>
          </a:prstGeom>
        </p:spPr>
      </p:pic>
      <p:sp>
        <p:nvSpPr>
          <p:cNvPr id="36" name="Text 32"/>
          <p:cNvSpPr txBox="1"/>
          <p:nvPr/>
        </p:nvSpPr>
        <p:spPr>
          <a:xfrm>
            <a:off x="5257800" y="4206240"/>
            <a:ext cx="246888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Failures stay contained</a:t>
            </a:r>
            <a:endParaRPr lang="en-US" sz="1800" dirty="0"/>
          </a:p>
        </p:txBody>
      </p:sp>
      <p:sp>
        <p:nvSpPr>
          <p:cNvPr id="37" name="Text 33"/>
          <p:cNvSpPr txBox="1"/>
          <p:nvPr/>
        </p:nvSpPr>
        <p:spPr>
          <a:xfrm>
            <a:off x="4526280" y="4892040"/>
            <a:ext cx="3154680" cy="109728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 failed stage never corrupts another stage. Its rows simply wait in their current state.</a:t>
            </a:r>
            <a:endParaRPr lang="en-US" sz="1400" dirty="0"/>
          </a:p>
        </p:txBody>
      </p:sp>
      <p:sp>
        <p:nvSpPr>
          <p:cNvPr id="38" name="benefit Status is visible"/>
          <p:cNvSpPr/>
          <p:nvPr/>
        </p:nvSpPr>
        <p:spPr>
          <a:xfrm>
            <a:off x="8046720" y="3886200"/>
            <a:ext cx="3566160" cy="1920240"/>
          </a:xfrm>
          <a:prstGeom prst="roundRect">
            <a:avLst>
              <a:gd name="adj" fmla="val 3810"/>
            </a:avLst>
          </a:prstGeom>
          <a:solidFill>
            <a:srgbClr val="EEF3F5"/>
          </a:solidFill>
          <a:ln w="12700">
            <a:solidFill>
              <a:srgbClr val="EEF3F5"/>
            </a:solidFill>
            <a:prstDash val="solid"/>
          </a:ln>
        </p:spPr>
      </p:sp>
      <p:sp>
        <p:nvSpPr>
          <p:cNvPr id="39" name="benefit Status is visible circle"/>
          <p:cNvSpPr/>
          <p:nvPr/>
        </p:nvSpPr>
        <p:spPr>
          <a:xfrm>
            <a:off x="8275320" y="4114800"/>
            <a:ext cx="594360" cy="594360"/>
          </a:xfrm>
          <a:prstGeom prst="ellipse">
            <a:avLst/>
          </a:prstGeom>
          <a:solidFill>
            <a:srgbClr val="1B4965"/>
          </a:solidFill>
          <a:ln w="12700">
            <a:solidFill>
              <a:srgbClr val="1B4965"/>
            </a:solidFill>
            <a:prstDash val="solid"/>
          </a:ln>
        </p:spPr>
      </p:sp>
      <p:pic>
        <p:nvPicPr>
          <p:cNvPr id="40" name="benefit Status is visible icon" descr="benefit Status is visible">    </p:cNvPr>
          <p:cNvPicPr>
            <a:picLocks noChangeAspect="1"/>
          </p:cNvPicPr>
          <p:nvPr/>
        </p:nvPicPr>
        <p:blipFill>
          <a:blip r:embed="rId3"/>
          <a:stretch>
            <a:fillRect/>
          </a:stretch>
        </p:blipFill>
        <p:spPr>
          <a:xfrm>
            <a:off x="8423910" y="4263390"/>
            <a:ext cx="297180" cy="297180"/>
          </a:xfrm>
          <a:prstGeom prst="rect">
            <a:avLst/>
          </a:prstGeom>
        </p:spPr>
      </p:pic>
      <p:sp>
        <p:nvSpPr>
          <p:cNvPr id="41" name="Text 36"/>
          <p:cNvSpPr txBox="1"/>
          <p:nvPr/>
        </p:nvSpPr>
        <p:spPr>
          <a:xfrm>
            <a:off x="9006840" y="4206240"/>
            <a:ext cx="246888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Status is visible</a:t>
            </a:r>
            <a:endParaRPr lang="en-US" sz="1800" dirty="0"/>
          </a:p>
        </p:txBody>
      </p:sp>
      <p:sp>
        <p:nvSpPr>
          <p:cNvPr id="42" name="Text 37"/>
          <p:cNvSpPr txBox="1"/>
          <p:nvPr/>
        </p:nvSpPr>
        <p:spPr>
          <a:xfrm>
            <a:off x="8275320" y="4892040"/>
            <a:ext cx="3154680" cy="109728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 paper's row shows exactly where it is in the pipeline, which makes the audit easy.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Registration: validated, de-duplicated, audited</a:t>
            </a:r>
            <a:endParaRPr lang="en-US" sz="3000" dirty="0"/>
          </a:p>
        </p:txBody>
      </p:sp>
      <p:sp>
        <p:nvSpPr>
          <p:cNvPr id="3" name="Text 1"/>
          <p:cNvSpPr txBox="1"/>
          <p:nvPr/>
        </p:nvSpPr>
        <p:spPr>
          <a:xfrm>
            <a:off x="548640" y="1280160"/>
            <a:ext cx="5120640" cy="365760"/>
          </a:xfrm>
          <a:prstGeom prst="rect">
            <a:avLst/>
          </a:prstGeom>
          <a:noFill/>
          <a:ln/>
        </p:spPr>
        <p:txBody>
          <a:bodyPr wrap="square" lIns="0" tIns="0" rIns="0" bIns="0" rtlCol="0" anchor="t"/>
          <a:lstStyle/>
          <a:p>
            <a:pPr indent="0" marL="0">
              <a:buNone/>
            </a:pPr>
            <a:r>
              <a:rPr lang="en-US" sz="1600" b="1" dirty="0">
                <a:solidFill>
                  <a:srgbClr val="1B4965"/>
                </a:solidFill>
                <a:latin typeface="Calibri" pitchFamily="34" charset="0"/>
                <a:ea typeface="Calibri" pitchFamily="34" charset="-122"/>
                <a:cs typeface="Calibri" pitchFamily="34" charset="-120"/>
              </a:rPr>
              <a:t>POST /webhook/research/topic</a:t>
            </a:r>
            <a:endParaRPr lang="en-US" sz="1600" dirty="0"/>
          </a:p>
        </p:txBody>
      </p:sp>
      <p:sp>
        <p:nvSpPr>
          <p:cNvPr id="4" name="request code block"/>
          <p:cNvSpPr/>
          <p:nvPr/>
        </p:nvSpPr>
        <p:spPr>
          <a:xfrm>
            <a:off x="548640" y="1691640"/>
            <a:ext cx="5120640" cy="2103120"/>
          </a:xfrm>
          <a:prstGeom prst="roundRect">
            <a:avLst>
              <a:gd name="adj" fmla="val 3478"/>
            </a:avLst>
          </a:prstGeom>
          <a:solidFill>
            <a:srgbClr val="12263A"/>
          </a:solidFill>
          <a:ln w="12700">
            <a:solidFill>
              <a:srgbClr val="12263A"/>
            </a:solidFill>
            <a:prstDash val="solid"/>
          </a:ln>
        </p:spPr>
      </p:sp>
      <p:sp>
        <p:nvSpPr>
          <p:cNvPr id="5" name="Text 3"/>
          <p:cNvSpPr txBox="1"/>
          <p:nvPr/>
        </p:nvSpPr>
        <p:spPr>
          <a:xfrm>
            <a:off x="777240" y="1828800"/>
            <a:ext cx="4754880" cy="1874520"/>
          </a:xfrm>
          <a:prstGeom prst="rect">
            <a:avLst/>
          </a:prstGeom>
          <a:noFill/>
          <a:ln/>
        </p:spPr>
        <p:txBody>
          <a:bodyPr wrap="square" lIns="0" tIns="0" rIns="0" bIns="0" rtlCol="0" anchor="ctr"/>
          <a:lstStyle/>
          <a:p>
            <a:pPr indent="0" marL="0">
              <a:buNone/>
            </a:pPr>
            <a:r>
              <a:rPr lang="en-US" sz="1400" dirty="0">
                <a:solidFill>
                  <a:srgbClr val="E3EDF2"/>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  "researcher": "Anshika Rana",</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  "email": "you@example.com",</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  "topic": "Retrieval Augmented Generation",</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  "keywords": "RAG, retrieval, LLM",</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  "frequency": "weekly"</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548640" y="4023360"/>
            <a:ext cx="5120640" cy="8229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Also available as an n8n web form (01.1), which posts to a processor webhook (01.2) and shows one of three result pages.</a:t>
            </a:r>
            <a:endParaRPr lang="en-US" sz="1400" dirty="0"/>
          </a:p>
        </p:txBody>
      </p:sp>
      <p:sp>
        <p:nvSpPr>
          <p:cNvPr id="7" name="response 200"/>
          <p:cNvSpPr/>
          <p:nvPr/>
        </p:nvSpPr>
        <p:spPr>
          <a:xfrm>
            <a:off x="6035040" y="1325880"/>
            <a:ext cx="5577840" cy="1417320"/>
          </a:xfrm>
          <a:prstGeom prst="roundRect">
            <a:avLst>
              <a:gd name="adj" fmla="val 5161"/>
            </a:avLst>
          </a:prstGeom>
          <a:solidFill>
            <a:srgbClr val="EEF2E6"/>
          </a:solidFill>
          <a:ln w="12700">
            <a:solidFill>
              <a:srgbClr val="4F7A3A"/>
            </a:solidFill>
            <a:prstDash val="solid"/>
          </a:ln>
        </p:spPr>
      </p:sp>
      <p:sp>
        <p:nvSpPr>
          <p:cNvPr id="8" name="Text 6"/>
          <p:cNvSpPr txBox="1"/>
          <p:nvPr/>
        </p:nvSpPr>
        <p:spPr>
          <a:xfrm>
            <a:off x="6263640" y="1600200"/>
            <a:ext cx="1097280" cy="731520"/>
          </a:xfrm>
          <a:prstGeom prst="rect">
            <a:avLst/>
          </a:prstGeom>
          <a:noFill/>
          <a:ln/>
        </p:spPr>
        <p:txBody>
          <a:bodyPr wrap="square" lIns="0" tIns="0" rIns="0" bIns="0" rtlCol="0" anchor="ctr"/>
          <a:lstStyle/>
          <a:p>
            <a:pPr indent="0" marL="0">
              <a:buNone/>
            </a:pPr>
            <a:r>
              <a:rPr lang="en-US" sz="3200" b="1" dirty="0">
                <a:solidFill>
                  <a:srgbClr val="4F7A3A"/>
                </a:solidFill>
                <a:latin typeface="Cambria" pitchFamily="34" charset="0"/>
                <a:ea typeface="Cambria" pitchFamily="34" charset="-122"/>
                <a:cs typeface="Cambria" pitchFamily="34" charset="-120"/>
              </a:rPr>
              <a:t>200</a:t>
            </a:r>
            <a:endParaRPr lang="en-US" sz="3200" dirty="0"/>
          </a:p>
        </p:txBody>
      </p:sp>
      <p:sp>
        <p:nvSpPr>
          <p:cNvPr id="9" name="Text 7"/>
          <p:cNvSpPr txBox="1"/>
          <p:nvPr/>
        </p:nvSpPr>
        <p:spPr>
          <a:xfrm>
            <a:off x="7406640" y="1490472"/>
            <a:ext cx="402336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Registered</a:t>
            </a:r>
            <a:endParaRPr lang="en-US" sz="1800" dirty="0"/>
          </a:p>
        </p:txBody>
      </p:sp>
      <p:sp>
        <p:nvSpPr>
          <p:cNvPr id="10" name="Text 8"/>
          <p:cNvSpPr txBox="1"/>
          <p:nvPr/>
        </p:nvSpPr>
        <p:spPr>
          <a:xfrm>
            <a:off x="7406640" y="1874520"/>
            <a:ext cx="4023360" cy="77724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topic_id TOPIC-&lt;ms&gt;-&lt;rand&gt;; keywords lower-cased and de-duplicated</a:t>
            </a:r>
            <a:endParaRPr lang="en-US" sz="1400" dirty="0"/>
          </a:p>
        </p:txBody>
      </p:sp>
      <p:sp>
        <p:nvSpPr>
          <p:cNvPr id="11" name="response 400"/>
          <p:cNvSpPr/>
          <p:nvPr/>
        </p:nvSpPr>
        <p:spPr>
          <a:xfrm>
            <a:off x="6035040" y="2926080"/>
            <a:ext cx="5577840" cy="1417320"/>
          </a:xfrm>
          <a:prstGeom prst="roundRect">
            <a:avLst>
              <a:gd name="adj" fmla="val 5161"/>
            </a:avLst>
          </a:prstGeom>
          <a:solidFill>
            <a:srgbClr val="F7E4E4"/>
          </a:solidFill>
          <a:ln w="12700">
            <a:solidFill>
              <a:srgbClr val="9B2C2C"/>
            </a:solidFill>
            <a:prstDash val="solid"/>
          </a:ln>
        </p:spPr>
      </p:sp>
      <p:sp>
        <p:nvSpPr>
          <p:cNvPr id="12" name="Text 10"/>
          <p:cNvSpPr txBox="1"/>
          <p:nvPr/>
        </p:nvSpPr>
        <p:spPr>
          <a:xfrm>
            <a:off x="6263640" y="3200400"/>
            <a:ext cx="1097280" cy="731520"/>
          </a:xfrm>
          <a:prstGeom prst="rect">
            <a:avLst/>
          </a:prstGeom>
          <a:noFill/>
          <a:ln/>
        </p:spPr>
        <p:txBody>
          <a:bodyPr wrap="square" lIns="0" tIns="0" rIns="0" bIns="0" rtlCol="0" anchor="ctr"/>
          <a:lstStyle/>
          <a:p>
            <a:pPr indent="0" marL="0">
              <a:buNone/>
            </a:pPr>
            <a:r>
              <a:rPr lang="en-US" sz="3200" b="1" dirty="0">
                <a:solidFill>
                  <a:srgbClr val="9B2C2C"/>
                </a:solidFill>
                <a:latin typeface="Cambria" pitchFamily="34" charset="0"/>
                <a:ea typeface="Cambria" pitchFamily="34" charset="-122"/>
                <a:cs typeface="Cambria" pitchFamily="34" charset="-120"/>
              </a:rPr>
              <a:t>400</a:t>
            </a:r>
            <a:endParaRPr lang="en-US" sz="3200" dirty="0"/>
          </a:p>
        </p:txBody>
      </p:sp>
      <p:sp>
        <p:nvSpPr>
          <p:cNvPr id="13" name="Text 11"/>
          <p:cNvSpPr txBox="1"/>
          <p:nvPr/>
        </p:nvSpPr>
        <p:spPr>
          <a:xfrm>
            <a:off x="7406640" y="3090672"/>
            <a:ext cx="402336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Invalid</a:t>
            </a:r>
            <a:endParaRPr lang="en-US" sz="1800" dirty="0"/>
          </a:p>
        </p:txBody>
      </p:sp>
      <p:sp>
        <p:nvSpPr>
          <p:cNvPr id="14" name="Text 12"/>
          <p:cNvSpPr txBox="1"/>
          <p:nvPr/>
        </p:nvSpPr>
        <p:spPr>
          <a:xfrm>
            <a:off x="7406640" y="3474720"/>
            <a:ext cx="4023360" cy="77724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All problems listed at once: name, email, topic length, keywords, frequency</a:t>
            </a:r>
            <a:endParaRPr lang="en-US" sz="1400" dirty="0"/>
          </a:p>
        </p:txBody>
      </p:sp>
      <p:sp>
        <p:nvSpPr>
          <p:cNvPr id="15" name="response 409"/>
          <p:cNvSpPr/>
          <p:nvPr/>
        </p:nvSpPr>
        <p:spPr>
          <a:xfrm>
            <a:off x="6035040" y="4526280"/>
            <a:ext cx="5577840" cy="1417320"/>
          </a:xfrm>
          <a:prstGeom prst="roundRect">
            <a:avLst>
              <a:gd name="adj" fmla="val 5161"/>
            </a:avLst>
          </a:prstGeom>
          <a:solidFill>
            <a:srgbClr val="FFF4E0"/>
          </a:solidFill>
          <a:ln w="12700">
            <a:solidFill>
              <a:srgbClr val="C9822B"/>
            </a:solidFill>
            <a:prstDash val="solid"/>
          </a:ln>
        </p:spPr>
      </p:sp>
      <p:sp>
        <p:nvSpPr>
          <p:cNvPr id="16" name="Text 14"/>
          <p:cNvSpPr txBox="1"/>
          <p:nvPr/>
        </p:nvSpPr>
        <p:spPr>
          <a:xfrm>
            <a:off x="6263640" y="4800600"/>
            <a:ext cx="1097280" cy="731520"/>
          </a:xfrm>
          <a:prstGeom prst="rect">
            <a:avLst/>
          </a:prstGeom>
          <a:noFill/>
          <a:ln/>
        </p:spPr>
        <p:txBody>
          <a:bodyPr wrap="square" lIns="0" tIns="0" rIns="0" bIns="0" rtlCol="0" anchor="ctr"/>
          <a:lstStyle/>
          <a:p>
            <a:pPr indent="0" marL="0">
              <a:buNone/>
            </a:pPr>
            <a:r>
              <a:rPr lang="en-US" sz="3200" b="1" dirty="0">
                <a:solidFill>
                  <a:srgbClr val="C9822B"/>
                </a:solidFill>
                <a:latin typeface="Cambria" pitchFamily="34" charset="0"/>
                <a:ea typeface="Cambria" pitchFamily="34" charset="-122"/>
                <a:cs typeface="Cambria" pitchFamily="34" charset="-120"/>
              </a:rPr>
              <a:t>409</a:t>
            </a:r>
            <a:endParaRPr lang="en-US" sz="3200" dirty="0"/>
          </a:p>
        </p:txBody>
      </p:sp>
      <p:sp>
        <p:nvSpPr>
          <p:cNvPr id="17" name="Text 15"/>
          <p:cNvSpPr txBox="1"/>
          <p:nvPr/>
        </p:nvSpPr>
        <p:spPr>
          <a:xfrm>
            <a:off x="7406640" y="4690872"/>
            <a:ext cx="402336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Duplicate</a:t>
            </a:r>
            <a:endParaRPr lang="en-US" sz="1800" dirty="0"/>
          </a:p>
        </p:txBody>
      </p:sp>
      <p:sp>
        <p:nvSpPr>
          <p:cNvPr id="18" name="Text 16"/>
          <p:cNvSpPr txBox="1"/>
          <p:nvPr/>
        </p:nvSpPr>
        <p:spPr>
          <a:xfrm>
            <a:off x="7406640" y="5074920"/>
            <a:ext cx="4023360" cy="77724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topic_key = email|topic ignores case and spaces, so a researcher can't register the same topic twice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Collection: two sources, one clean list, an AI relevance gate</a:t>
            </a:r>
            <a:endParaRPr lang="en-US" sz="3000" dirty="0"/>
          </a:p>
        </p:txBody>
      </p:sp>
      <p:sp>
        <p:nvSpPr>
          <p:cNvPr id="3" name="step 1"/>
          <p:cNvSpPr/>
          <p:nvPr/>
        </p:nvSpPr>
        <p:spPr>
          <a:xfrm>
            <a:off x="548640" y="1371600"/>
            <a:ext cx="475488" cy="475488"/>
          </a:xfrm>
          <a:prstGeom prst="ellipse">
            <a:avLst/>
          </a:prstGeom>
          <a:solidFill>
            <a:srgbClr val="1B4965"/>
          </a:solidFill>
          <a:ln w="12700">
            <a:solidFill>
              <a:srgbClr val="1B4965"/>
            </a:solidFill>
            <a:prstDash val="solid"/>
          </a:ln>
        </p:spPr>
      </p:sp>
      <p:sp>
        <p:nvSpPr>
          <p:cNvPr id="4" name="Text 2"/>
          <p:cNvSpPr txBox="1"/>
          <p:nvPr/>
        </p:nvSpPr>
        <p:spPr>
          <a:xfrm>
            <a:off x="548640" y="137160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188720" y="1353312"/>
            <a:ext cx="512064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Daily 08:00: one query per active topic</a:t>
            </a:r>
            <a:endParaRPr lang="en-US" sz="1500" dirty="0"/>
          </a:p>
        </p:txBody>
      </p:sp>
      <p:sp>
        <p:nvSpPr>
          <p:cNvPr id="6" name="step 2"/>
          <p:cNvSpPr/>
          <p:nvPr/>
        </p:nvSpPr>
        <p:spPr>
          <a:xfrm>
            <a:off x="548640" y="2157984"/>
            <a:ext cx="475488" cy="475488"/>
          </a:xfrm>
          <a:prstGeom prst="ellipse">
            <a:avLst/>
          </a:prstGeom>
          <a:solidFill>
            <a:srgbClr val="1B4965"/>
          </a:solidFill>
          <a:ln w="12700">
            <a:solidFill>
              <a:srgbClr val="1B4965"/>
            </a:solidFill>
            <a:prstDash val="solid"/>
          </a:ln>
        </p:spPr>
      </p:sp>
      <p:sp>
        <p:nvSpPr>
          <p:cNvPr id="7" name="Text 5"/>
          <p:cNvSpPr txBox="1"/>
          <p:nvPr/>
        </p:nvSpPr>
        <p:spPr>
          <a:xfrm>
            <a:off x="548640" y="215798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8" name="Text 6"/>
          <p:cNvSpPr txBox="1"/>
          <p:nvPr/>
        </p:nvSpPr>
        <p:spPr>
          <a:xfrm>
            <a:off x="1188720" y="2139696"/>
            <a:ext cx="512064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arXiv + Semantic Scholar in parallel: rate-limited, 30 s timeout, 3 retries</a:t>
            </a:r>
            <a:endParaRPr lang="en-US" sz="1500" dirty="0"/>
          </a:p>
        </p:txBody>
      </p:sp>
      <p:sp>
        <p:nvSpPr>
          <p:cNvPr id="9" name="step 3"/>
          <p:cNvSpPr/>
          <p:nvPr/>
        </p:nvSpPr>
        <p:spPr>
          <a:xfrm>
            <a:off x="548640" y="2944368"/>
            <a:ext cx="475488" cy="475488"/>
          </a:xfrm>
          <a:prstGeom prst="ellipse">
            <a:avLst/>
          </a:prstGeom>
          <a:solidFill>
            <a:srgbClr val="1B4965"/>
          </a:solidFill>
          <a:ln w="12700">
            <a:solidFill>
              <a:srgbClr val="1B4965"/>
            </a:solidFill>
            <a:prstDash val="solid"/>
          </a:ln>
        </p:spPr>
      </p:sp>
      <p:sp>
        <p:nvSpPr>
          <p:cNvPr id="10" name="Text 8"/>
          <p:cNvSpPr txBox="1"/>
          <p:nvPr/>
        </p:nvSpPr>
        <p:spPr>
          <a:xfrm>
            <a:off x="548640" y="29443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1" name="Text 9"/>
          <p:cNvSpPr txBox="1"/>
          <p:nvPr/>
        </p:nvSpPr>
        <p:spPr>
          <a:xfrm>
            <a:off x="1188720" y="2926080"/>
            <a:ext cx="512064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Normalise both formats; merge duplicates by arXiv ID → DOI → title + year</a:t>
            </a:r>
            <a:endParaRPr lang="en-US" sz="1500" dirty="0"/>
          </a:p>
        </p:txBody>
      </p:sp>
      <p:sp>
        <p:nvSpPr>
          <p:cNvPr id="12" name="step 4"/>
          <p:cNvSpPr/>
          <p:nvPr/>
        </p:nvSpPr>
        <p:spPr>
          <a:xfrm>
            <a:off x="548640" y="3730752"/>
            <a:ext cx="475488" cy="475488"/>
          </a:xfrm>
          <a:prstGeom prst="ellipse">
            <a:avLst/>
          </a:prstGeom>
          <a:solidFill>
            <a:srgbClr val="1B4965"/>
          </a:solidFill>
          <a:ln w="12700">
            <a:solidFill>
              <a:srgbClr val="1B4965"/>
            </a:solidFill>
            <a:prstDash val="solid"/>
          </a:ln>
        </p:spPr>
      </p:sp>
      <p:sp>
        <p:nvSpPr>
          <p:cNvPr id="13" name="Text 11"/>
          <p:cNvSpPr txBox="1"/>
          <p:nvPr/>
        </p:nvSpPr>
        <p:spPr>
          <a:xfrm>
            <a:off x="548640" y="37307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4" name="Text 12"/>
          <p:cNvSpPr txBox="1"/>
          <p:nvPr/>
        </p:nvSpPr>
        <p:spPr>
          <a:xfrm>
            <a:off x="1188720" y="3712464"/>
            <a:ext cx="512064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Skip papers already stored for this topic, before any LLM call</a:t>
            </a:r>
            <a:endParaRPr lang="en-US" sz="1500" dirty="0"/>
          </a:p>
        </p:txBody>
      </p:sp>
      <p:sp>
        <p:nvSpPr>
          <p:cNvPr id="15" name="step 5"/>
          <p:cNvSpPr/>
          <p:nvPr/>
        </p:nvSpPr>
        <p:spPr>
          <a:xfrm>
            <a:off x="548640" y="4517136"/>
            <a:ext cx="475488" cy="475488"/>
          </a:xfrm>
          <a:prstGeom prst="ellipse">
            <a:avLst/>
          </a:prstGeom>
          <a:solidFill>
            <a:srgbClr val="1B4965"/>
          </a:solidFill>
          <a:ln w="12700">
            <a:solidFill>
              <a:srgbClr val="1B4965"/>
            </a:solidFill>
            <a:prstDash val="solid"/>
          </a:ln>
        </p:spPr>
      </p:sp>
      <p:sp>
        <p:nvSpPr>
          <p:cNvPr id="16" name="Text 14"/>
          <p:cNvSpPr txBox="1"/>
          <p:nvPr/>
        </p:nvSpPr>
        <p:spPr>
          <a:xfrm>
            <a:off x="548640" y="451713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7" name="Text 15"/>
          <p:cNvSpPr txBox="1"/>
          <p:nvPr/>
        </p:nvSpPr>
        <p:spPr>
          <a:xfrm>
            <a:off x="1188720" y="4498848"/>
            <a:ext cx="512064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GPT-5-mini scores relevance 0–1 with a reason; output validated</a:t>
            </a:r>
            <a:endParaRPr lang="en-US" sz="1500" dirty="0"/>
          </a:p>
        </p:txBody>
      </p:sp>
      <p:sp>
        <p:nvSpPr>
          <p:cNvPr id="18" name="step 6"/>
          <p:cNvSpPr/>
          <p:nvPr/>
        </p:nvSpPr>
        <p:spPr>
          <a:xfrm>
            <a:off x="548640" y="5303520"/>
            <a:ext cx="475488" cy="475488"/>
          </a:xfrm>
          <a:prstGeom prst="ellipse">
            <a:avLst/>
          </a:prstGeom>
          <a:solidFill>
            <a:srgbClr val="1B4965"/>
          </a:solidFill>
          <a:ln w="12700">
            <a:solidFill>
              <a:srgbClr val="1B4965"/>
            </a:solidFill>
            <a:prstDash val="solid"/>
          </a:ln>
        </p:spPr>
      </p:sp>
      <p:sp>
        <p:nvSpPr>
          <p:cNvPr id="19" name="Text 17"/>
          <p:cNvSpPr txBox="1"/>
          <p:nvPr/>
        </p:nvSpPr>
        <p:spPr>
          <a:xfrm>
            <a:off x="548640" y="53035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0" name="Text 18"/>
          <p:cNvSpPr txBox="1"/>
          <p:nvPr/>
        </p:nvSpPr>
        <p:spPr>
          <a:xfrm>
            <a:off x="1188720" y="5285232"/>
            <a:ext cx="512064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Store papers scoring ≥ 0.70 as pending_ai; log the rest</a:t>
            </a:r>
            <a:endParaRPr lang="en-US" sz="1500" dirty="0"/>
          </a:p>
        </p:txBody>
      </p:sp>
      <p:sp>
        <p:nvSpPr>
          <p:cNvPr id="21" name="stat candidates after de-duplication (3 topics)"/>
          <p:cNvSpPr/>
          <p:nvPr/>
        </p:nvSpPr>
        <p:spPr>
          <a:xfrm>
            <a:off x="6766560" y="1371600"/>
            <a:ext cx="2286000" cy="1783080"/>
          </a:xfrm>
          <a:prstGeom prst="roundRect">
            <a:avLst>
              <a:gd name="adj" fmla="val 4103"/>
            </a:avLst>
          </a:prstGeom>
          <a:solidFill>
            <a:srgbClr val="EEF3F5"/>
          </a:solidFill>
          <a:ln w="12700">
            <a:solidFill>
              <a:srgbClr val="EEF3F5"/>
            </a:solidFill>
            <a:prstDash val="solid"/>
          </a:ln>
        </p:spPr>
      </p:sp>
      <p:sp>
        <p:nvSpPr>
          <p:cNvPr id="22" name="Text 20"/>
          <p:cNvSpPr txBox="1"/>
          <p:nvPr/>
        </p:nvSpPr>
        <p:spPr>
          <a:xfrm>
            <a:off x="6949440" y="1508760"/>
            <a:ext cx="1920240" cy="868680"/>
          </a:xfrm>
          <a:prstGeom prst="rect">
            <a:avLst/>
          </a:prstGeom>
          <a:noFill/>
          <a:ln/>
        </p:spPr>
        <p:txBody>
          <a:bodyPr wrap="square" lIns="0" tIns="0" rIns="0" bIns="0" rtlCol="0" anchor="t"/>
          <a:lstStyle/>
          <a:p>
            <a:pPr indent="0" marL="0">
              <a:buNone/>
            </a:pPr>
            <a:r>
              <a:rPr lang="en-US" sz="4800" b="1" dirty="0">
                <a:solidFill>
                  <a:srgbClr val="12263A"/>
                </a:solidFill>
                <a:latin typeface="Cambria" pitchFamily="34" charset="0"/>
                <a:ea typeface="Cambria" pitchFamily="34" charset="-122"/>
                <a:cs typeface="Cambria" pitchFamily="34" charset="-120"/>
              </a:rPr>
              <a:t>37</a:t>
            </a:r>
            <a:endParaRPr lang="en-US" sz="4800" dirty="0"/>
          </a:p>
        </p:txBody>
      </p:sp>
      <p:sp>
        <p:nvSpPr>
          <p:cNvPr id="23" name="Text 21"/>
          <p:cNvSpPr txBox="1"/>
          <p:nvPr/>
        </p:nvSpPr>
        <p:spPr>
          <a:xfrm>
            <a:off x="6949440" y="2377440"/>
            <a:ext cx="1920240" cy="68580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candidates after de-duplication (3 topics)</a:t>
            </a:r>
            <a:endParaRPr lang="en-US" sz="1400" dirty="0"/>
          </a:p>
        </p:txBody>
      </p:sp>
      <p:sp>
        <p:nvSpPr>
          <p:cNvPr id="24" name="stat stored as relevant (≥ 0.70)"/>
          <p:cNvSpPr/>
          <p:nvPr/>
        </p:nvSpPr>
        <p:spPr>
          <a:xfrm>
            <a:off x="9235440" y="1371600"/>
            <a:ext cx="2286000" cy="1783080"/>
          </a:xfrm>
          <a:prstGeom prst="roundRect">
            <a:avLst>
              <a:gd name="adj" fmla="val 4103"/>
            </a:avLst>
          </a:prstGeom>
          <a:solidFill>
            <a:srgbClr val="DCEBEE"/>
          </a:solidFill>
          <a:ln w="12700">
            <a:solidFill>
              <a:srgbClr val="DCEBEE"/>
            </a:solidFill>
            <a:prstDash val="solid"/>
          </a:ln>
        </p:spPr>
      </p:sp>
      <p:sp>
        <p:nvSpPr>
          <p:cNvPr id="25" name="Text 23"/>
          <p:cNvSpPr txBox="1"/>
          <p:nvPr/>
        </p:nvSpPr>
        <p:spPr>
          <a:xfrm>
            <a:off x="9418320" y="1508760"/>
            <a:ext cx="1920240" cy="868680"/>
          </a:xfrm>
          <a:prstGeom prst="rect">
            <a:avLst/>
          </a:prstGeom>
          <a:noFill/>
          <a:ln/>
        </p:spPr>
        <p:txBody>
          <a:bodyPr wrap="square" lIns="0" tIns="0" rIns="0" bIns="0" rtlCol="0" anchor="t"/>
          <a:lstStyle/>
          <a:p>
            <a:pPr indent="0" marL="0">
              <a:buNone/>
            </a:pPr>
            <a:r>
              <a:rPr lang="en-US" sz="4800" b="1" dirty="0">
                <a:solidFill>
                  <a:srgbClr val="1B4965"/>
                </a:solidFill>
                <a:latin typeface="Cambria" pitchFamily="34" charset="0"/>
                <a:ea typeface="Cambria" pitchFamily="34" charset="-122"/>
                <a:cs typeface="Cambria" pitchFamily="34" charset="-120"/>
              </a:rPr>
              <a:t>36</a:t>
            </a:r>
            <a:endParaRPr lang="en-US" sz="4800" dirty="0"/>
          </a:p>
        </p:txBody>
      </p:sp>
      <p:sp>
        <p:nvSpPr>
          <p:cNvPr id="26" name="Text 24"/>
          <p:cNvSpPr txBox="1"/>
          <p:nvPr/>
        </p:nvSpPr>
        <p:spPr>
          <a:xfrm>
            <a:off x="9418320" y="2377440"/>
            <a:ext cx="1920240" cy="68580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stored as relevant (≥ 0.70)</a:t>
            </a:r>
            <a:endParaRPr lang="en-US" sz="1400" dirty="0"/>
          </a:p>
        </p:txBody>
      </p:sp>
      <p:sp>
        <p:nvSpPr>
          <p:cNvPr id="27" name="stat filtered out by the AI gate"/>
          <p:cNvSpPr/>
          <p:nvPr/>
        </p:nvSpPr>
        <p:spPr>
          <a:xfrm>
            <a:off x="6766560" y="3337560"/>
            <a:ext cx="2286000" cy="1783080"/>
          </a:xfrm>
          <a:prstGeom prst="roundRect">
            <a:avLst>
              <a:gd name="adj" fmla="val 4103"/>
            </a:avLst>
          </a:prstGeom>
          <a:solidFill>
            <a:srgbClr val="EEF3F5"/>
          </a:solidFill>
          <a:ln w="12700">
            <a:solidFill>
              <a:srgbClr val="EEF3F5"/>
            </a:solidFill>
            <a:prstDash val="solid"/>
          </a:ln>
        </p:spPr>
      </p:sp>
      <p:sp>
        <p:nvSpPr>
          <p:cNvPr id="28" name="Text 26"/>
          <p:cNvSpPr txBox="1"/>
          <p:nvPr/>
        </p:nvSpPr>
        <p:spPr>
          <a:xfrm>
            <a:off x="6949440" y="3474720"/>
            <a:ext cx="1920240" cy="868680"/>
          </a:xfrm>
          <a:prstGeom prst="rect">
            <a:avLst/>
          </a:prstGeom>
          <a:noFill/>
          <a:ln/>
        </p:spPr>
        <p:txBody>
          <a:bodyPr wrap="square" lIns="0" tIns="0" rIns="0" bIns="0" rtlCol="0" anchor="t"/>
          <a:lstStyle/>
          <a:p>
            <a:pPr indent="0" marL="0">
              <a:buNone/>
            </a:pPr>
            <a:r>
              <a:rPr lang="en-US" sz="4800" b="1" dirty="0">
                <a:solidFill>
                  <a:srgbClr val="12263A"/>
                </a:solidFill>
                <a:latin typeface="Cambria" pitchFamily="34" charset="0"/>
                <a:ea typeface="Cambria" pitchFamily="34" charset="-122"/>
                <a:cs typeface="Cambria" pitchFamily="34" charset="-120"/>
              </a:rPr>
              <a:t>1</a:t>
            </a:r>
            <a:endParaRPr lang="en-US" sz="4800" dirty="0"/>
          </a:p>
        </p:txBody>
      </p:sp>
      <p:sp>
        <p:nvSpPr>
          <p:cNvPr id="29" name="Text 27"/>
          <p:cNvSpPr txBox="1"/>
          <p:nvPr/>
        </p:nvSpPr>
        <p:spPr>
          <a:xfrm>
            <a:off x="6949440" y="4343400"/>
            <a:ext cx="1920240" cy="68580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filtered out by the AI gate</a:t>
            </a:r>
            <a:endParaRPr lang="en-US" sz="1400" dirty="0"/>
          </a:p>
        </p:txBody>
      </p:sp>
      <p:sp>
        <p:nvSpPr>
          <p:cNvPr id="30" name="stat AI failures in the live run"/>
          <p:cNvSpPr/>
          <p:nvPr/>
        </p:nvSpPr>
        <p:spPr>
          <a:xfrm>
            <a:off x="9235440" y="3337560"/>
            <a:ext cx="2286000" cy="1783080"/>
          </a:xfrm>
          <a:prstGeom prst="roundRect">
            <a:avLst>
              <a:gd name="adj" fmla="val 4103"/>
            </a:avLst>
          </a:prstGeom>
          <a:solidFill>
            <a:srgbClr val="EEF3F5"/>
          </a:solidFill>
          <a:ln w="12700">
            <a:solidFill>
              <a:srgbClr val="EEF3F5"/>
            </a:solidFill>
            <a:prstDash val="solid"/>
          </a:ln>
        </p:spPr>
      </p:sp>
      <p:sp>
        <p:nvSpPr>
          <p:cNvPr id="31" name="Text 29"/>
          <p:cNvSpPr txBox="1"/>
          <p:nvPr/>
        </p:nvSpPr>
        <p:spPr>
          <a:xfrm>
            <a:off x="9418320" y="3474720"/>
            <a:ext cx="1920240" cy="868680"/>
          </a:xfrm>
          <a:prstGeom prst="rect">
            <a:avLst/>
          </a:prstGeom>
          <a:noFill/>
          <a:ln/>
        </p:spPr>
        <p:txBody>
          <a:bodyPr wrap="square" lIns="0" tIns="0" rIns="0" bIns="0" rtlCol="0" anchor="t"/>
          <a:lstStyle/>
          <a:p>
            <a:pPr indent="0" marL="0">
              <a:buNone/>
            </a:pPr>
            <a:r>
              <a:rPr lang="en-US" sz="4800" b="1" dirty="0">
                <a:solidFill>
                  <a:srgbClr val="12263A"/>
                </a:solidFill>
                <a:latin typeface="Cambria" pitchFamily="34" charset="0"/>
                <a:ea typeface="Cambria" pitchFamily="34" charset="-122"/>
                <a:cs typeface="Cambria" pitchFamily="34" charset="-120"/>
              </a:rPr>
              <a:t>0</a:t>
            </a:r>
            <a:endParaRPr lang="en-US" sz="4800" dirty="0"/>
          </a:p>
        </p:txBody>
      </p:sp>
      <p:sp>
        <p:nvSpPr>
          <p:cNvPr id="32" name="Text 30"/>
          <p:cNvSpPr txBox="1"/>
          <p:nvPr/>
        </p:nvSpPr>
        <p:spPr>
          <a:xfrm>
            <a:off x="9418320" y="4343400"/>
            <a:ext cx="1920240" cy="68580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AI failures in the live run</a:t>
            </a:r>
            <a:endParaRPr lang="en-US" sz="1400" dirty="0"/>
          </a:p>
        </p:txBody>
      </p:sp>
      <p:sp>
        <p:nvSpPr>
          <p:cNvPr id="33" name="Text 31"/>
          <p:cNvSpPr txBox="1"/>
          <p:nvPr/>
        </p:nvSpPr>
        <p:spPr>
          <a:xfrm>
            <a:off x="6766560" y="5440680"/>
            <a:ext cx="4846320" cy="548640"/>
          </a:xfrm>
          <a:prstGeom prst="rect">
            <a:avLst/>
          </a:prstGeom>
          <a:noFill/>
          <a:ln/>
        </p:spPr>
        <p:txBody>
          <a:bodyPr wrap="square" lIns="0" tIns="0" rIns="0" bIns="0" rtlCol="0" anchor="t"/>
          <a:lstStyle/>
          <a:p>
            <a:pPr indent="0" marL="0">
              <a:buNone/>
            </a:pPr>
            <a:r>
              <a:rPr lang="en-US" sz="1300" i="1" dirty="0">
                <a:solidFill>
                  <a:srgbClr val="7A8794"/>
                </a:solidFill>
                <a:latin typeface="Calibri" pitchFamily="34" charset="0"/>
                <a:ea typeface="Calibri" pitchFamily="34" charset="-122"/>
                <a:cs typeface="Calibri" pitchFamily="34" charset="-120"/>
              </a:rPr>
              <a:t>Live run, 7 Oct 2026 (execution #86, 66 s). Stored papers scored 0.92–0.98.</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Summarisation: every paper becomes a structured research note</a:t>
            </a:r>
            <a:endParaRPr lang="en-US" sz="3000" dirty="0"/>
          </a:p>
        </p:txBody>
      </p:sp>
      <p:sp>
        <p:nvSpPr>
          <p:cNvPr id="3" name="Text 1"/>
          <p:cNvSpPr txBox="1"/>
          <p:nvPr/>
        </p:nvSpPr>
        <p:spPr>
          <a:xfrm>
            <a:off x="548640" y="1280160"/>
            <a:ext cx="4937760" cy="365760"/>
          </a:xfrm>
          <a:prstGeom prst="rect">
            <a:avLst/>
          </a:prstGeom>
          <a:noFill/>
          <a:ln/>
        </p:spPr>
        <p:txBody>
          <a:bodyPr wrap="square" lIns="0" tIns="0" rIns="0" bIns="0" rtlCol="0" anchor="t"/>
          <a:lstStyle/>
          <a:p>
            <a:pPr indent="0" marL="0">
              <a:buNone/>
            </a:pPr>
            <a:r>
              <a:rPr lang="en-US" sz="1600" b="1" dirty="0">
                <a:solidFill>
                  <a:srgbClr val="1B4965"/>
                </a:solidFill>
                <a:latin typeface="Calibri" pitchFamily="34" charset="0"/>
                <a:ea typeface="Calibri" pitchFamily="34" charset="-122"/>
                <a:cs typeface="Calibri" pitchFamily="34" charset="-120"/>
              </a:rPr>
              <a:t>10 fields per paper (strict JSON, validated)</a:t>
            </a:r>
            <a:endParaRPr lang="en-US" sz="1600" dirty="0"/>
          </a:p>
        </p:txBody>
      </p:sp>
      <p:sp>
        <p:nvSpPr>
          <p:cNvPr id="4" name="field summary"/>
          <p:cNvSpPr/>
          <p:nvPr/>
        </p:nvSpPr>
        <p:spPr>
          <a:xfrm>
            <a:off x="548640" y="1783080"/>
            <a:ext cx="2468880" cy="512064"/>
          </a:xfrm>
          <a:prstGeom prst="roundRect">
            <a:avLst>
              <a:gd name="adj" fmla="val 14286"/>
            </a:avLst>
          </a:prstGeom>
          <a:solidFill>
            <a:srgbClr val="DCEBEE"/>
          </a:solidFill>
          <a:ln w="12700">
            <a:solidFill>
              <a:srgbClr val="DCEBEE"/>
            </a:solidFill>
            <a:prstDash val="solid"/>
          </a:ln>
        </p:spPr>
      </p:sp>
      <p:sp>
        <p:nvSpPr>
          <p:cNvPr id="5" name="Text 3"/>
          <p:cNvSpPr txBox="1"/>
          <p:nvPr/>
        </p:nvSpPr>
        <p:spPr>
          <a:xfrm>
            <a:off x="658368" y="1783080"/>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summary</a:t>
            </a:r>
            <a:endParaRPr lang="en-US" sz="1300" dirty="0"/>
          </a:p>
        </p:txBody>
      </p:sp>
      <p:sp>
        <p:nvSpPr>
          <p:cNvPr id="6" name="field key_findings"/>
          <p:cNvSpPr/>
          <p:nvPr/>
        </p:nvSpPr>
        <p:spPr>
          <a:xfrm>
            <a:off x="3108960" y="1783080"/>
            <a:ext cx="2468880" cy="512064"/>
          </a:xfrm>
          <a:prstGeom prst="roundRect">
            <a:avLst>
              <a:gd name="adj" fmla="val 14286"/>
            </a:avLst>
          </a:prstGeom>
          <a:solidFill>
            <a:srgbClr val="DCEBEE"/>
          </a:solidFill>
          <a:ln w="12700">
            <a:solidFill>
              <a:srgbClr val="DCEBEE"/>
            </a:solidFill>
            <a:prstDash val="solid"/>
          </a:ln>
        </p:spPr>
      </p:sp>
      <p:sp>
        <p:nvSpPr>
          <p:cNvPr id="7" name="Text 5"/>
          <p:cNvSpPr txBox="1"/>
          <p:nvPr/>
        </p:nvSpPr>
        <p:spPr>
          <a:xfrm>
            <a:off x="3218688" y="1783080"/>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key_findings</a:t>
            </a:r>
            <a:endParaRPr lang="en-US" sz="1300" dirty="0"/>
          </a:p>
        </p:txBody>
      </p:sp>
      <p:sp>
        <p:nvSpPr>
          <p:cNvPr id="8" name="field methodology"/>
          <p:cNvSpPr/>
          <p:nvPr/>
        </p:nvSpPr>
        <p:spPr>
          <a:xfrm>
            <a:off x="548640" y="2441448"/>
            <a:ext cx="2468880" cy="512064"/>
          </a:xfrm>
          <a:prstGeom prst="roundRect">
            <a:avLst>
              <a:gd name="adj" fmla="val 14286"/>
            </a:avLst>
          </a:prstGeom>
          <a:solidFill>
            <a:srgbClr val="DCEBEE"/>
          </a:solidFill>
          <a:ln w="12700">
            <a:solidFill>
              <a:srgbClr val="DCEBEE"/>
            </a:solidFill>
            <a:prstDash val="solid"/>
          </a:ln>
        </p:spPr>
      </p:sp>
      <p:sp>
        <p:nvSpPr>
          <p:cNvPr id="9" name="Text 7"/>
          <p:cNvSpPr txBox="1"/>
          <p:nvPr/>
        </p:nvSpPr>
        <p:spPr>
          <a:xfrm>
            <a:off x="658368" y="2441448"/>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methodology</a:t>
            </a:r>
            <a:endParaRPr lang="en-US" sz="1300" dirty="0"/>
          </a:p>
        </p:txBody>
      </p:sp>
      <p:sp>
        <p:nvSpPr>
          <p:cNvPr id="10" name="field datasets"/>
          <p:cNvSpPr/>
          <p:nvPr/>
        </p:nvSpPr>
        <p:spPr>
          <a:xfrm>
            <a:off x="3108960" y="2441448"/>
            <a:ext cx="2468880" cy="512064"/>
          </a:xfrm>
          <a:prstGeom prst="roundRect">
            <a:avLst>
              <a:gd name="adj" fmla="val 14286"/>
            </a:avLst>
          </a:prstGeom>
          <a:solidFill>
            <a:srgbClr val="DCEBEE"/>
          </a:solidFill>
          <a:ln w="12700">
            <a:solidFill>
              <a:srgbClr val="DCEBEE"/>
            </a:solidFill>
            <a:prstDash val="solid"/>
          </a:ln>
        </p:spPr>
      </p:sp>
      <p:sp>
        <p:nvSpPr>
          <p:cNvPr id="11" name="Text 9"/>
          <p:cNvSpPr txBox="1"/>
          <p:nvPr/>
        </p:nvSpPr>
        <p:spPr>
          <a:xfrm>
            <a:off x="3218688" y="2441448"/>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datasets</a:t>
            </a:r>
            <a:endParaRPr lang="en-US" sz="1300" dirty="0"/>
          </a:p>
        </p:txBody>
      </p:sp>
      <p:sp>
        <p:nvSpPr>
          <p:cNvPr id="12" name="field models"/>
          <p:cNvSpPr/>
          <p:nvPr/>
        </p:nvSpPr>
        <p:spPr>
          <a:xfrm>
            <a:off x="548640" y="3099816"/>
            <a:ext cx="2468880" cy="512064"/>
          </a:xfrm>
          <a:prstGeom prst="roundRect">
            <a:avLst>
              <a:gd name="adj" fmla="val 14286"/>
            </a:avLst>
          </a:prstGeom>
          <a:solidFill>
            <a:srgbClr val="DCEBEE"/>
          </a:solidFill>
          <a:ln w="12700">
            <a:solidFill>
              <a:srgbClr val="DCEBEE"/>
            </a:solidFill>
            <a:prstDash val="solid"/>
          </a:ln>
        </p:spPr>
      </p:sp>
      <p:sp>
        <p:nvSpPr>
          <p:cNvPr id="13" name="Text 11"/>
          <p:cNvSpPr txBox="1"/>
          <p:nvPr/>
        </p:nvSpPr>
        <p:spPr>
          <a:xfrm>
            <a:off x="658368" y="3099816"/>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models</a:t>
            </a:r>
            <a:endParaRPr lang="en-US" sz="1300" dirty="0"/>
          </a:p>
        </p:txBody>
      </p:sp>
      <p:sp>
        <p:nvSpPr>
          <p:cNvPr id="14" name="field limitations"/>
          <p:cNvSpPr/>
          <p:nvPr/>
        </p:nvSpPr>
        <p:spPr>
          <a:xfrm>
            <a:off x="3108960" y="3099816"/>
            <a:ext cx="2468880" cy="512064"/>
          </a:xfrm>
          <a:prstGeom prst="roundRect">
            <a:avLst>
              <a:gd name="adj" fmla="val 14286"/>
            </a:avLst>
          </a:prstGeom>
          <a:solidFill>
            <a:srgbClr val="DCEBEE"/>
          </a:solidFill>
          <a:ln w="12700">
            <a:solidFill>
              <a:srgbClr val="DCEBEE"/>
            </a:solidFill>
            <a:prstDash val="solid"/>
          </a:ln>
        </p:spPr>
      </p:sp>
      <p:sp>
        <p:nvSpPr>
          <p:cNvPr id="15" name="Text 13"/>
          <p:cNvSpPr txBox="1"/>
          <p:nvPr/>
        </p:nvSpPr>
        <p:spPr>
          <a:xfrm>
            <a:off x="3218688" y="3099816"/>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limitations</a:t>
            </a:r>
            <a:endParaRPr lang="en-US" sz="1300" dirty="0"/>
          </a:p>
        </p:txBody>
      </p:sp>
      <p:sp>
        <p:nvSpPr>
          <p:cNvPr id="16" name="field research_gap"/>
          <p:cNvSpPr/>
          <p:nvPr/>
        </p:nvSpPr>
        <p:spPr>
          <a:xfrm>
            <a:off x="548640" y="3758184"/>
            <a:ext cx="2468880" cy="512064"/>
          </a:xfrm>
          <a:prstGeom prst="roundRect">
            <a:avLst>
              <a:gd name="adj" fmla="val 14286"/>
            </a:avLst>
          </a:prstGeom>
          <a:solidFill>
            <a:srgbClr val="DCEBEE"/>
          </a:solidFill>
          <a:ln w="12700">
            <a:solidFill>
              <a:srgbClr val="DCEBEE"/>
            </a:solidFill>
            <a:prstDash val="solid"/>
          </a:ln>
        </p:spPr>
      </p:sp>
      <p:sp>
        <p:nvSpPr>
          <p:cNvPr id="17" name="Text 15"/>
          <p:cNvSpPr txBox="1"/>
          <p:nvPr/>
        </p:nvSpPr>
        <p:spPr>
          <a:xfrm>
            <a:off x="658368" y="3758184"/>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research_gap</a:t>
            </a:r>
            <a:endParaRPr lang="en-US" sz="1300" dirty="0"/>
          </a:p>
        </p:txBody>
      </p:sp>
      <p:sp>
        <p:nvSpPr>
          <p:cNvPr id="18" name="field research_significance"/>
          <p:cNvSpPr/>
          <p:nvPr/>
        </p:nvSpPr>
        <p:spPr>
          <a:xfrm>
            <a:off x="3108960" y="3758184"/>
            <a:ext cx="2468880" cy="512064"/>
          </a:xfrm>
          <a:prstGeom prst="roundRect">
            <a:avLst>
              <a:gd name="adj" fmla="val 14286"/>
            </a:avLst>
          </a:prstGeom>
          <a:solidFill>
            <a:srgbClr val="DCEBEE"/>
          </a:solidFill>
          <a:ln w="12700">
            <a:solidFill>
              <a:srgbClr val="DCEBEE"/>
            </a:solidFill>
            <a:prstDash val="solid"/>
          </a:ln>
        </p:spPr>
      </p:sp>
      <p:sp>
        <p:nvSpPr>
          <p:cNvPr id="19" name="Text 17"/>
          <p:cNvSpPr txBox="1"/>
          <p:nvPr/>
        </p:nvSpPr>
        <p:spPr>
          <a:xfrm>
            <a:off x="3218688" y="3758184"/>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research_significance</a:t>
            </a:r>
            <a:endParaRPr lang="en-US" sz="1300" dirty="0"/>
          </a:p>
        </p:txBody>
      </p:sp>
      <p:sp>
        <p:nvSpPr>
          <p:cNvPr id="20" name="field extracted_keywords"/>
          <p:cNvSpPr/>
          <p:nvPr/>
        </p:nvSpPr>
        <p:spPr>
          <a:xfrm>
            <a:off x="548640" y="4416552"/>
            <a:ext cx="2468880" cy="512064"/>
          </a:xfrm>
          <a:prstGeom prst="roundRect">
            <a:avLst>
              <a:gd name="adj" fmla="val 14286"/>
            </a:avLst>
          </a:prstGeom>
          <a:solidFill>
            <a:srgbClr val="DCEBEE"/>
          </a:solidFill>
          <a:ln w="12700">
            <a:solidFill>
              <a:srgbClr val="DCEBEE"/>
            </a:solidFill>
            <a:prstDash val="solid"/>
          </a:ln>
        </p:spPr>
      </p:sp>
      <p:sp>
        <p:nvSpPr>
          <p:cNvPr id="21" name="Text 19"/>
          <p:cNvSpPr txBox="1"/>
          <p:nvPr/>
        </p:nvSpPr>
        <p:spPr>
          <a:xfrm>
            <a:off x="658368" y="4416552"/>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extracted_keywords</a:t>
            </a:r>
            <a:endParaRPr lang="en-US" sz="1300" dirty="0"/>
          </a:p>
        </p:txBody>
      </p:sp>
      <p:sp>
        <p:nvSpPr>
          <p:cNvPr id="22" name="field research_category"/>
          <p:cNvSpPr/>
          <p:nvPr/>
        </p:nvSpPr>
        <p:spPr>
          <a:xfrm>
            <a:off x="3108960" y="4416552"/>
            <a:ext cx="2468880" cy="512064"/>
          </a:xfrm>
          <a:prstGeom prst="roundRect">
            <a:avLst>
              <a:gd name="adj" fmla="val 14286"/>
            </a:avLst>
          </a:prstGeom>
          <a:solidFill>
            <a:srgbClr val="DCEBEE"/>
          </a:solidFill>
          <a:ln w="12700">
            <a:solidFill>
              <a:srgbClr val="DCEBEE"/>
            </a:solidFill>
            <a:prstDash val="solid"/>
          </a:ln>
        </p:spPr>
      </p:sp>
      <p:sp>
        <p:nvSpPr>
          <p:cNvPr id="23" name="Text 21"/>
          <p:cNvSpPr txBox="1"/>
          <p:nvPr/>
        </p:nvSpPr>
        <p:spPr>
          <a:xfrm>
            <a:off x="3218688" y="4416552"/>
            <a:ext cx="2286000" cy="512064"/>
          </a:xfrm>
          <a:prstGeom prst="rect">
            <a:avLst/>
          </a:prstGeom>
          <a:noFill/>
          <a:ln/>
        </p:spPr>
        <p:txBody>
          <a:bodyPr wrap="square" lIns="0" tIns="0" rIns="0" bIns="0" rtlCol="0" anchor="ctr"/>
          <a:lstStyle/>
          <a:p>
            <a:pPr indent="0" marL="0">
              <a:buNone/>
            </a:pPr>
            <a:r>
              <a:rPr lang="en-US" sz="1300" dirty="0">
                <a:solidFill>
                  <a:srgbClr val="12263A"/>
                </a:solidFill>
                <a:latin typeface="Courier New" pitchFamily="34" charset="0"/>
                <a:ea typeface="Courier New" pitchFamily="34" charset="-122"/>
                <a:cs typeface="Courier New" pitchFamily="34" charset="-120"/>
              </a:rPr>
              <a:t>research_category</a:t>
            </a:r>
            <a:endParaRPr lang="en-US" sz="1300" dirty="0"/>
          </a:p>
        </p:txBody>
      </p:sp>
      <p:sp>
        <p:nvSpPr>
          <p:cNvPr id="24" name="Text 22"/>
          <p:cNvSpPr txBox="1"/>
          <p:nvPr/>
        </p:nvSpPr>
        <p:spPr>
          <a:xfrm>
            <a:off x="548640" y="5166360"/>
            <a:ext cx="4937760" cy="73152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The prompt forbids anything not in the abstract. Invalid output → ai_failed, never a broken run.</a:t>
            </a:r>
            <a:endParaRPr lang="en-US" sz="1400" dirty="0"/>
          </a:p>
        </p:txBody>
      </p:sp>
      <p:sp>
        <p:nvSpPr>
          <p:cNvPr id="25" name="example note"/>
          <p:cNvSpPr/>
          <p:nvPr/>
        </p:nvSpPr>
        <p:spPr>
          <a:xfrm>
            <a:off x="5852160" y="1280160"/>
            <a:ext cx="5760720" cy="4892040"/>
          </a:xfrm>
          <a:prstGeom prst="roundRect">
            <a:avLst>
              <a:gd name="adj" fmla="val 1495"/>
            </a:avLst>
          </a:prstGeom>
          <a:solidFill>
            <a:srgbClr val="EEF3F5"/>
          </a:solidFill>
          <a:ln w="12700">
            <a:solidFill>
              <a:srgbClr val="EEF3F5"/>
            </a:solidFill>
            <a:prstDash val="solid"/>
          </a:ln>
        </p:spPr>
      </p:sp>
      <p:sp>
        <p:nvSpPr>
          <p:cNvPr id="26" name="Text 24"/>
          <p:cNvSpPr txBox="1"/>
          <p:nvPr/>
        </p:nvSpPr>
        <p:spPr>
          <a:xfrm>
            <a:off x="6126480" y="1463040"/>
            <a:ext cx="5303520" cy="365760"/>
          </a:xfrm>
          <a:prstGeom prst="rect">
            <a:avLst/>
          </a:prstGeom>
          <a:noFill/>
          <a:ln/>
        </p:spPr>
        <p:txBody>
          <a:bodyPr wrap="square" lIns="0" tIns="0" rIns="0" bIns="0" rtlCol="0" anchor="t"/>
          <a:lstStyle/>
          <a:p>
            <a:pPr indent="0" marL="0">
              <a:buNone/>
            </a:pPr>
            <a:r>
              <a:rPr lang="en-US" sz="1600" b="1" dirty="0">
                <a:solidFill>
                  <a:srgbClr val="1B4965"/>
                </a:solidFill>
                <a:latin typeface="Calibri" pitchFamily="34" charset="0"/>
                <a:ea typeface="Calibri" pitchFamily="34" charset="-122"/>
                <a:cs typeface="Calibri" pitchFamily="34" charset="-120"/>
              </a:rPr>
              <a:t>Real output · FAIR-RAG (arXiv 2510.22344)</a:t>
            </a:r>
            <a:endParaRPr lang="en-US" sz="1600" dirty="0"/>
          </a:p>
        </p:txBody>
      </p:sp>
      <p:sp>
        <p:nvSpPr>
          <p:cNvPr id="27" name="Text 25"/>
          <p:cNvSpPr txBox="1"/>
          <p:nvPr/>
        </p:nvSpPr>
        <p:spPr>
          <a:xfrm>
            <a:off x="6126480" y="1920240"/>
            <a:ext cx="5303520" cy="310896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Summary  </a:t>
            </a:r>
            <a:pPr indent="0" marL="0">
              <a:buNone/>
            </a:pPr>
            <a:r>
              <a:rPr lang="en-US" sz="1400" dirty="0">
                <a:solidFill>
                  <a:schemeClr val="tx1"/>
                </a:solidFill>
                <a:latin typeface="Calibri" pitchFamily="34" charset="0"/>
                <a:ea typeface="Calibri" pitchFamily="34" charset="-122"/>
                <a:cs typeface="Calibri" pitchFamily="34" charset="-120"/>
              </a:rPr>
              <a:t>An agentic RAG framework that decomposes a query into required findings, audits the evidence for gaps and issues targeted sub-queries until the evidence is sufficient.</a:t>
            </a:r>
            <a:endParaRPr lang="en-US" sz="14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chemeClr val="tx1"/>
                </a:solidFill>
                <a:latin typeface="Calibri" pitchFamily="34" charset="0"/>
                <a:ea typeface="Calibri" pitchFamily="34" charset="-122"/>
                <a:cs typeface="Calibri" pitchFamily="34" charset="-120"/>
              </a:rPr>
              <a:t>Key finding  </a:t>
            </a:r>
            <a:pPr indent="0" marL="0">
              <a:buNone/>
            </a:pPr>
            <a:r>
              <a:rPr lang="en-US" sz="1400" dirty="0">
                <a:solidFill>
                  <a:schemeClr val="tx1"/>
                </a:solidFill>
                <a:latin typeface="Calibri" pitchFamily="34" charset="0"/>
                <a:ea typeface="Calibri" pitchFamily="34" charset="-122"/>
                <a:cs typeface="Calibri" pitchFamily="34" charset="-120"/>
              </a:rPr>
              <a:t>F1 0.453 on HotpotQA, +8.3 points over the strongest iterative baseline.</a:t>
            </a:r>
            <a:endParaRPr lang="en-US" sz="14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chemeClr val="tx1"/>
                </a:solidFill>
                <a:latin typeface="Calibri" pitchFamily="34" charset="0"/>
                <a:ea typeface="Calibri" pitchFamily="34" charset="-122"/>
                <a:cs typeface="Calibri" pitchFamily="34" charset="-120"/>
              </a:rPr>
              <a:t>Datasets  </a:t>
            </a:r>
            <a:pPr indent="0" marL="0">
              <a:buNone/>
            </a:pPr>
            <a:r>
              <a:rPr lang="en-US" sz="1400" dirty="0">
                <a:solidFill>
                  <a:schemeClr val="tx1"/>
                </a:solidFill>
                <a:latin typeface="Calibri" pitchFamily="34" charset="0"/>
                <a:ea typeface="Calibri" pitchFamily="34" charset="-122"/>
                <a:cs typeface="Calibri" pitchFamily="34" charset="-120"/>
              </a:rPr>
              <a:t>HotpotQA · 2WikiMultiHopQA · MusiQue</a:t>
            </a:r>
            <a:endParaRPr lang="en-US" sz="14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chemeClr val="tx1"/>
                </a:solidFill>
                <a:latin typeface="Calibri" pitchFamily="34" charset="0"/>
                <a:ea typeface="Calibri" pitchFamily="34" charset="-122"/>
                <a:cs typeface="Calibri" pitchFamily="34" charset="-120"/>
              </a:rPr>
              <a:t>Research gap  </a:t>
            </a:r>
            <a:pPr indent="0" marL="0">
              <a:buNone/>
            </a:pPr>
            <a:r>
              <a:rPr lang="en-US" sz="1400" dirty="0">
                <a:solidFill>
                  <a:schemeClr val="tx1"/>
                </a:solidFill>
                <a:latin typeface="Calibri" pitchFamily="34" charset="0"/>
                <a:ea typeface="Calibri" pitchFamily="34" charset="-122"/>
                <a:cs typeface="Calibri" pitchFamily="34" charset="-120"/>
              </a:rPr>
              <a:t>A structured, evidence-driven process that explicitly finds and fills information gaps for multi-hop reasoning.</a:t>
            </a:r>
            <a:endParaRPr lang="en-US" sz="1400" dirty="0"/>
          </a:p>
        </p:txBody>
      </p:sp>
      <p:sp>
        <p:nvSpPr>
          <p:cNvPr id="28" name="Text 26"/>
          <p:cNvSpPr txBox="1"/>
          <p:nvPr/>
        </p:nvSpPr>
        <p:spPr>
          <a:xfrm>
            <a:off x="6126480" y="5257800"/>
            <a:ext cx="5303520" cy="457200"/>
          </a:xfrm>
          <a:prstGeom prst="rect">
            <a:avLst/>
          </a:prstGeom>
          <a:noFill/>
          <a:ln/>
        </p:spPr>
        <p:txBody>
          <a:bodyPr wrap="square" lIns="0" tIns="0" rIns="0" bIns="0" rtlCol="0" anchor="t"/>
          <a:lstStyle/>
          <a:p>
            <a:pPr indent="0" marL="0">
              <a:buNone/>
            </a:pPr>
            <a:r>
              <a:rPr lang="en-US" sz="2000" b="1" dirty="0">
                <a:solidFill>
                  <a:srgbClr val="4F7A3A"/>
                </a:solidFill>
                <a:latin typeface="Cambria" pitchFamily="34" charset="0"/>
                <a:ea typeface="Cambria" pitchFamily="34" charset="-122"/>
                <a:cs typeface="Cambria" pitchFamily="34" charset="-120"/>
              </a:rPr>
              <a:t>36 / 36 papers summarised · 0 AI failures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References, PDF archive and a searchable repository</a:t>
            </a:r>
            <a:endParaRPr lang="en-US" sz="3000" dirty="0"/>
          </a:p>
        </p:txBody>
      </p:sp>
      <p:sp>
        <p:nvSpPr>
          <p:cNvPr id="3" name="Text 1"/>
          <p:cNvSpPr txBox="1"/>
          <p:nvPr/>
        </p:nvSpPr>
        <p:spPr>
          <a:xfrm>
            <a:off x="548640" y="1280160"/>
            <a:ext cx="6035040" cy="365760"/>
          </a:xfrm>
          <a:prstGeom prst="rect">
            <a:avLst/>
          </a:prstGeom>
          <a:noFill/>
          <a:ln/>
        </p:spPr>
        <p:txBody>
          <a:bodyPr wrap="square" lIns="0" tIns="0" rIns="0" bIns="0" rtlCol="0" anchor="t"/>
          <a:lstStyle/>
          <a:p>
            <a:pPr indent="0" marL="0">
              <a:buNone/>
            </a:pPr>
            <a:r>
              <a:rPr lang="en-US" sz="1600" b="1" dirty="0">
                <a:solidFill>
                  <a:srgbClr val="1B4965"/>
                </a:solidFill>
                <a:latin typeface="Calibri" pitchFamily="34" charset="0"/>
                <a:ea typeface="Calibri" pitchFamily="34" charset="-122"/>
                <a:cs typeface="Calibri" pitchFamily="34" charset="-120"/>
              </a:rPr>
              <a:t>Citations are built in code, not by the LLM</a:t>
            </a:r>
            <a:endParaRPr lang="en-US" sz="1600" dirty="0"/>
          </a:p>
        </p:txBody>
      </p:sp>
      <p:sp>
        <p:nvSpPr>
          <p:cNvPr id="4" name="APA example"/>
          <p:cNvSpPr/>
          <p:nvPr/>
        </p:nvSpPr>
        <p:spPr>
          <a:xfrm>
            <a:off x="548640" y="1737360"/>
            <a:ext cx="6035040" cy="1143000"/>
          </a:xfrm>
          <a:prstGeom prst="roundRect">
            <a:avLst>
              <a:gd name="adj" fmla="val 6400"/>
            </a:avLst>
          </a:prstGeom>
          <a:solidFill>
            <a:srgbClr val="EEF3F5"/>
          </a:solidFill>
          <a:ln w="12700">
            <a:solidFill>
              <a:srgbClr val="EEF3F5"/>
            </a:solidFill>
            <a:prstDash val="solid"/>
          </a:ln>
        </p:spPr>
      </p:sp>
      <p:sp>
        <p:nvSpPr>
          <p:cNvPr id="5" name="Text 3"/>
          <p:cNvSpPr txBox="1"/>
          <p:nvPr/>
        </p:nvSpPr>
        <p:spPr>
          <a:xfrm>
            <a:off x="731520" y="1828800"/>
            <a:ext cx="5669280" cy="960120"/>
          </a:xfrm>
          <a:prstGeom prst="rect">
            <a:avLst/>
          </a:prstGeom>
          <a:noFill/>
          <a:ln/>
        </p:spPr>
        <p:txBody>
          <a:bodyPr wrap="square" lIns="0" tIns="0" rIns="0" bIns="0" rtlCol="0" anchor="t"/>
          <a:lstStyle/>
          <a:p>
            <a:pPr indent="0" marL="0">
              <a:buNone/>
            </a:pPr>
            <a:r>
              <a:rPr lang="en-US" sz="1400" i="1" dirty="0">
                <a:solidFill>
                  <a:schemeClr val="tx1"/>
                </a:solidFill>
                <a:latin typeface="Calibri" pitchFamily="34" charset="0"/>
                <a:ea typeface="Calibri" pitchFamily="34" charset="-122"/>
                <a:cs typeface="Calibri" pitchFamily="34" charset="-120"/>
              </a:rPr>
              <a:t>Asl, M. A., Asgari-Bidhendi, M., &amp; Minaei-Bidgoli, B. (2025). FAIR-RAG: Faithful Adaptive Iterative Refinement for Retrieval-Augmented Generation. arXiv preprint arXiv:2510.22344.</a:t>
            </a:r>
            <a:endParaRPr lang="en-US" sz="1400" dirty="0"/>
          </a:p>
        </p:txBody>
      </p:sp>
      <p:sp>
        <p:nvSpPr>
          <p:cNvPr id="6" name="BibTeX example"/>
          <p:cNvSpPr/>
          <p:nvPr/>
        </p:nvSpPr>
        <p:spPr>
          <a:xfrm>
            <a:off x="548640" y="3017520"/>
            <a:ext cx="6035040" cy="1600200"/>
          </a:xfrm>
          <a:prstGeom prst="roundRect">
            <a:avLst>
              <a:gd name="adj" fmla="val 4571"/>
            </a:avLst>
          </a:prstGeom>
          <a:solidFill>
            <a:srgbClr val="12263A"/>
          </a:solidFill>
          <a:ln w="12700">
            <a:solidFill>
              <a:srgbClr val="12263A"/>
            </a:solidFill>
            <a:prstDash val="solid"/>
          </a:ln>
        </p:spPr>
      </p:sp>
      <p:sp>
        <p:nvSpPr>
          <p:cNvPr id="7" name="Text 5"/>
          <p:cNvSpPr txBox="1"/>
          <p:nvPr/>
        </p:nvSpPr>
        <p:spPr>
          <a:xfrm>
            <a:off x="731520" y="3127248"/>
            <a:ext cx="5669280" cy="1554480"/>
          </a:xfrm>
          <a:prstGeom prst="rect">
            <a:avLst/>
          </a:prstGeom>
          <a:noFill/>
          <a:ln/>
        </p:spPr>
        <p:txBody>
          <a:bodyPr wrap="square" lIns="0" tIns="0" rIns="0" bIns="0" rtlCol="0" anchor="t"/>
          <a:lstStyle/>
          <a:p>
            <a:pPr indent="0" marL="0">
              <a:buNone/>
            </a:pPr>
            <a:r>
              <a:rPr lang="en-US" sz="1400" dirty="0">
                <a:solidFill>
                  <a:srgbClr val="E3EDF2"/>
                </a:solidFill>
                <a:latin typeface="Courier New" pitchFamily="34" charset="0"/>
                <a:ea typeface="Courier New" pitchFamily="34" charset="-122"/>
                <a:cs typeface="Courier New" pitchFamily="34" charset="-120"/>
              </a:rPr>
              <a:t>@misc{asl2025fair,</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  title = {FAIR-RAG: Faithful Adaptive ...},</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  author = {Mohammad Aghajani Asl and ...},</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  year = {2025}, eprint = {2510.22344},</a:t>
            </a:r>
            <a:endParaRPr lang="en-US" sz="1400" dirty="0"/>
          </a:p>
          <a:p>
            <a:pPr indent="0" marL="0">
              <a:buNone/>
            </a:pPr>
            <a:r>
              <a:rPr lang="en-US" sz="1400" dirty="0">
                <a:solidFill>
                  <a:srgbClr val="E3EDF2"/>
                </a:solidFill>
                <a:latin typeface="Courier New" pitchFamily="34" charset="0"/>
                <a:ea typeface="Courier New" pitchFamily="34" charset="-122"/>
                <a:cs typeface="Courier New" pitchFamily="34" charset="-120"/>
              </a:rPr>
              <a:t>  archivePrefix = {arXiv} }</a:t>
            </a:r>
            <a:endParaRPr lang="en-US" sz="1400" dirty="0"/>
          </a:p>
        </p:txBody>
      </p:sp>
      <p:sp>
        <p:nvSpPr>
          <p:cNvPr id="8" name="Text 6"/>
          <p:cNvSpPr txBox="1"/>
          <p:nvPr/>
        </p:nvSpPr>
        <p:spPr>
          <a:xfrm>
            <a:off x="548640" y="4937760"/>
            <a:ext cx="6035040" cy="365760"/>
          </a:xfrm>
          <a:prstGeom prst="rect">
            <a:avLst/>
          </a:prstGeom>
          <a:noFill/>
          <a:ln/>
        </p:spPr>
        <p:txBody>
          <a:bodyPr wrap="square" lIns="0" tIns="0" rIns="0" bIns="0" rtlCol="0" anchor="t"/>
          <a:lstStyle/>
          <a:p>
            <a:pPr indent="0" marL="0">
              <a:buNone/>
            </a:pPr>
            <a:r>
              <a:rPr lang="en-US" sz="1600" b="1" dirty="0">
                <a:solidFill>
                  <a:srgbClr val="1B4965"/>
                </a:solidFill>
                <a:latin typeface="Calibri" pitchFamily="34" charset="0"/>
                <a:ea typeface="Calibri" pitchFamily="34" charset="-122"/>
                <a:cs typeface="Calibri" pitchFamily="34" charset="-120"/>
              </a:rPr>
              <a:t>PDF outcome per paper</a:t>
            </a:r>
            <a:endParaRPr lang="en-US" sz="1600" dirty="0"/>
          </a:p>
        </p:txBody>
      </p:sp>
      <p:sp>
        <p:nvSpPr>
          <p:cNvPr id="9" name="pdf state stored"/>
          <p:cNvSpPr/>
          <p:nvPr/>
        </p:nvSpPr>
        <p:spPr>
          <a:xfrm>
            <a:off x="548640" y="5394960"/>
            <a:ext cx="914400" cy="457200"/>
          </a:xfrm>
          <a:prstGeom prst="roundRect">
            <a:avLst>
              <a:gd name="adj" fmla="val 16000"/>
            </a:avLst>
          </a:prstGeom>
          <a:solidFill>
            <a:srgbClr val="FFFFFF"/>
          </a:solidFill>
          <a:ln w="12700">
            <a:solidFill>
              <a:srgbClr val="4F7A3A"/>
            </a:solidFill>
            <a:prstDash val="solid"/>
          </a:ln>
        </p:spPr>
      </p:sp>
      <p:sp>
        <p:nvSpPr>
          <p:cNvPr id="10" name="Text 8"/>
          <p:cNvSpPr txBox="1"/>
          <p:nvPr/>
        </p:nvSpPr>
        <p:spPr>
          <a:xfrm>
            <a:off x="548640" y="5394960"/>
            <a:ext cx="914400" cy="457200"/>
          </a:xfrm>
          <a:prstGeom prst="rect">
            <a:avLst/>
          </a:prstGeom>
          <a:noFill/>
          <a:ln/>
        </p:spPr>
        <p:txBody>
          <a:bodyPr wrap="square" lIns="0" tIns="0" rIns="0" bIns="0" rtlCol="0" anchor="ctr"/>
          <a:lstStyle/>
          <a:p>
            <a:pPr algn="ctr" indent="0" marL="0">
              <a:buNone/>
            </a:pPr>
            <a:r>
              <a:rPr lang="en-US" sz="1200" dirty="0">
                <a:solidFill>
                  <a:srgbClr val="4F7A3A"/>
                </a:solidFill>
                <a:latin typeface="Courier New" pitchFamily="34" charset="0"/>
                <a:ea typeface="Courier New" pitchFamily="34" charset="-122"/>
                <a:cs typeface="Courier New" pitchFamily="34" charset="-120"/>
              </a:rPr>
              <a:t>stored</a:t>
            </a:r>
            <a:endParaRPr lang="en-US" sz="1200" dirty="0"/>
          </a:p>
        </p:txBody>
      </p:sp>
      <p:sp>
        <p:nvSpPr>
          <p:cNvPr id="11" name="pdf state drive_upload_failed"/>
          <p:cNvSpPr/>
          <p:nvPr/>
        </p:nvSpPr>
        <p:spPr>
          <a:xfrm>
            <a:off x="1645920" y="5394960"/>
            <a:ext cx="2029968" cy="457200"/>
          </a:xfrm>
          <a:prstGeom prst="roundRect">
            <a:avLst>
              <a:gd name="adj" fmla="val 16000"/>
            </a:avLst>
          </a:prstGeom>
          <a:solidFill>
            <a:srgbClr val="FFFFFF"/>
          </a:solidFill>
          <a:ln w="12700">
            <a:solidFill>
              <a:srgbClr val="C9822B"/>
            </a:solidFill>
            <a:prstDash val="solid"/>
          </a:ln>
        </p:spPr>
      </p:sp>
      <p:sp>
        <p:nvSpPr>
          <p:cNvPr id="12" name="Text 10"/>
          <p:cNvSpPr txBox="1"/>
          <p:nvPr/>
        </p:nvSpPr>
        <p:spPr>
          <a:xfrm>
            <a:off x="1645920" y="5394960"/>
            <a:ext cx="2029968" cy="457200"/>
          </a:xfrm>
          <a:prstGeom prst="rect">
            <a:avLst/>
          </a:prstGeom>
          <a:noFill/>
          <a:ln/>
        </p:spPr>
        <p:txBody>
          <a:bodyPr wrap="square" lIns="0" tIns="0" rIns="0" bIns="0" rtlCol="0" anchor="ctr"/>
          <a:lstStyle/>
          <a:p>
            <a:pPr algn="ctr" indent="0" marL="0">
              <a:buNone/>
            </a:pPr>
            <a:r>
              <a:rPr lang="en-US" sz="1200" dirty="0">
                <a:solidFill>
                  <a:srgbClr val="C9822B"/>
                </a:solidFill>
                <a:latin typeface="Courier New" pitchFamily="34" charset="0"/>
                <a:ea typeface="Courier New" pitchFamily="34" charset="-122"/>
                <a:cs typeface="Courier New" pitchFamily="34" charset="-120"/>
              </a:rPr>
              <a:t>drive_upload_failed</a:t>
            </a:r>
            <a:endParaRPr lang="en-US" sz="1200" dirty="0"/>
          </a:p>
        </p:txBody>
      </p:sp>
      <p:sp>
        <p:nvSpPr>
          <p:cNvPr id="13" name="pdf state download_failed"/>
          <p:cNvSpPr/>
          <p:nvPr/>
        </p:nvSpPr>
        <p:spPr>
          <a:xfrm>
            <a:off x="3858768" y="5394960"/>
            <a:ext cx="1673352" cy="457200"/>
          </a:xfrm>
          <a:prstGeom prst="roundRect">
            <a:avLst>
              <a:gd name="adj" fmla="val 16000"/>
            </a:avLst>
          </a:prstGeom>
          <a:solidFill>
            <a:srgbClr val="FFFFFF"/>
          </a:solidFill>
          <a:ln w="12700">
            <a:solidFill>
              <a:srgbClr val="9B2C2C"/>
            </a:solidFill>
            <a:prstDash val="solid"/>
          </a:ln>
        </p:spPr>
      </p:sp>
      <p:sp>
        <p:nvSpPr>
          <p:cNvPr id="14" name="Text 12"/>
          <p:cNvSpPr txBox="1"/>
          <p:nvPr/>
        </p:nvSpPr>
        <p:spPr>
          <a:xfrm>
            <a:off x="3858768" y="5394960"/>
            <a:ext cx="1673352" cy="457200"/>
          </a:xfrm>
          <a:prstGeom prst="rect">
            <a:avLst/>
          </a:prstGeom>
          <a:noFill/>
          <a:ln/>
        </p:spPr>
        <p:txBody>
          <a:bodyPr wrap="square" lIns="0" tIns="0" rIns="0" bIns="0" rtlCol="0" anchor="ctr"/>
          <a:lstStyle/>
          <a:p>
            <a:pPr algn="ctr" indent="0" marL="0">
              <a:buNone/>
            </a:pPr>
            <a:r>
              <a:rPr lang="en-US" sz="1200" dirty="0">
                <a:solidFill>
                  <a:srgbClr val="9B2C2C"/>
                </a:solidFill>
                <a:latin typeface="Courier New" pitchFamily="34" charset="0"/>
                <a:ea typeface="Courier New" pitchFamily="34" charset="-122"/>
                <a:cs typeface="Courier New" pitchFamily="34" charset="-120"/>
              </a:rPr>
              <a:t>download_failed</a:t>
            </a:r>
            <a:endParaRPr lang="en-US" sz="1200" dirty="0"/>
          </a:p>
        </p:txBody>
      </p:sp>
      <p:sp>
        <p:nvSpPr>
          <p:cNvPr id="15" name="pdf state no_link"/>
          <p:cNvSpPr/>
          <p:nvPr/>
        </p:nvSpPr>
        <p:spPr>
          <a:xfrm>
            <a:off x="5715000" y="5394960"/>
            <a:ext cx="868680" cy="457200"/>
          </a:xfrm>
          <a:prstGeom prst="roundRect">
            <a:avLst>
              <a:gd name="adj" fmla="val 16000"/>
            </a:avLst>
          </a:prstGeom>
          <a:solidFill>
            <a:srgbClr val="FFFFFF"/>
          </a:solidFill>
          <a:ln w="12700">
            <a:solidFill>
              <a:srgbClr val="7A8794"/>
            </a:solidFill>
            <a:prstDash val="solid"/>
          </a:ln>
        </p:spPr>
      </p:sp>
      <p:sp>
        <p:nvSpPr>
          <p:cNvPr id="16" name="Text 14"/>
          <p:cNvSpPr txBox="1"/>
          <p:nvPr/>
        </p:nvSpPr>
        <p:spPr>
          <a:xfrm>
            <a:off x="5715000" y="5394960"/>
            <a:ext cx="868680" cy="457200"/>
          </a:xfrm>
          <a:prstGeom prst="rect">
            <a:avLst/>
          </a:prstGeom>
          <a:noFill/>
          <a:ln/>
        </p:spPr>
        <p:txBody>
          <a:bodyPr wrap="square" lIns="0" tIns="0" rIns="0" bIns="0" rtlCol="0" anchor="ctr"/>
          <a:lstStyle/>
          <a:p>
            <a:pPr algn="ctr" indent="0" marL="0">
              <a:buNone/>
            </a:pPr>
            <a:r>
              <a:rPr lang="en-US" sz="1200" dirty="0">
                <a:solidFill>
                  <a:srgbClr val="7A8794"/>
                </a:solidFill>
                <a:latin typeface="Courier New" pitchFamily="34" charset="0"/>
                <a:ea typeface="Courier New" pitchFamily="34" charset="-122"/>
                <a:cs typeface="Courier New" pitchFamily="34" charset="-120"/>
              </a:rPr>
              <a:t>no_link</a:t>
            </a:r>
            <a:endParaRPr lang="en-US" sz="1200" dirty="0"/>
          </a:p>
        </p:txBody>
      </p:sp>
      <p:sp>
        <p:nvSpPr>
          <p:cNvPr id="17" name="search api panel"/>
          <p:cNvSpPr/>
          <p:nvPr/>
        </p:nvSpPr>
        <p:spPr>
          <a:xfrm>
            <a:off x="6949440" y="1280160"/>
            <a:ext cx="4663440" cy="4892040"/>
          </a:xfrm>
          <a:prstGeom prst="roundRect">
            <a:avLst>
              <a:gd name="adj" fmla="val 1569"/>
            </a:avLst>
          </a:prstGeom>
          <a:solidFill>
            <a:srgbClr val="EEF3F5"/>
          </a:solidFill>
          <a:ln w="12700">
            <a:solidFill>
              <a:srgbClr val="EEF3F5"/>
            </a:solidFill>
            <a:prstDash val="solid"/>
          </a:ln>
        </p:spPr>
      </p:sp>
      <p:sp>
        <p:nvSpPr>
          <p:cNvPr id="18" name="Text 16"/>
          <p:cNvSpPr txBox="1"/>
          <p:nvPr/>
        </p:nvSpPr>
        <p:spPr>
          <a:xfrm>
            <a:off x="7223760" y="1463040"/>
            <a:ext cx="4206240" cy="411480"/>
          </a:xfrm>
          <a:prstGeom prst="rect">
            <a:avLst/>
          </a:prstGeom>
          <a:noFill/>
          <a:ln/>
        </p:spPr>
        <p:txBody>
          <a:bodyPr wrap="square" lIns="0" tIns="0" rIns="0" bIns="0" rtlCol="0" anchor="t"/>
          <a:lstStyle/>
          <a:p>
            <a:pPr indent="0" marL="0">
              <a:buNone/>
            </a:pPr>
            <a:r>
              <a:rPr lang="en-US" sz="2000" b="1" dirty="0">
                <a:solidFill>
                  <a:srgbClr val="1B4965"/>
                </a:solidFill>
                <a:latin typeface="Cambria" pitchFamily="34" charset="0"/>
                <a:ea typeface="Cambria" pitchFamily="34" charset="-122"/>
                <a:cs typeface="Cambria" pitchFamily="34" charset="-120"/>
              </a:rPr>
              <a:t>Search API</a:t>
            </a:r>
            <a:endParaRPr lang="en-US" sz="2000" dirty="0"/>
          </a:p>
        </p:txBody>
      </p:sp>
      <p:sp>
        <p:nvSpPr>
          <p:cNvPr id="19" name="Text 17"/>
          <p:cNvSpPr txBox="1"/>
          <p:nvPr/>
        </p:nvSpPr>
        <p:spPr>
          <a:xfrm>
            <a:off x="7223760" y="1920240"/>
            <a:ext cx="4206240" cy="640080"/>
          </a:xfrm>
          <a:prstGeom prst="rect">
            <a:avLst/>
          </a:prstGeom>
          <a:noFill/>
          <a:ln/>
        </p:spPr>
        <p:txBody>
          <a:bodyPr wrap="square" lIns="0" tIns="0" rIns="0" bIns="0" rtlCol="0" anchor="t"/>
          <a:lstStyle/>
          <a:p>
            <a:pPr indent="0" marL="0">
              <a:buNone/>
            </a:pPr>
            <a:r>
              <a:rPr lang="en-US" sz="1300" dirty="0">
                <a:solidFill>
                  <a:srgbClr val="12263A"/>
                </a:solidFill>
                <a:latin typeface="Courier New" pitchFamily="34" charset="0"/>
                <a:ea typeface="Courier New" pitchFamily="34" charset="-122"/>
                <a:cs typeface="Courier New" pitchFamily="34" charset="-120"/>
              </a:rPr>
              <a:t>GET /webhook/research/papers/search</a:t>
            </a:r>
            <a:endParaRPr lang="en-US" sz="1300" dirty="0"/>
          </a:p>
          <a:p>
            <a:pPr indent="0" marL="0">
              <a:buNone/>
            </a:pPr>
            <a:r>
              <a:rPr lang="en-US" sz="1300" dirty="0">
                <a:solidFill>
                  <a:srgbClr val="12263A"/>
                </a:solidFill>
                <a:latin typeface="Courier New" pitchFamily="34" charset="0"/>
                <a:ea typeface="Courier New" pitchFamily="34" charset="-122"/>
                <a:cs typeface="Courier New" pitchFamily="34" charset="-120"/>
              </a:rPr>
              <a:t>?q=faithfulness attribution</a:t>
            </a:r>
            <a:endParaRPr lang="en-US" sz="1300" dirty="0"/>
          </a:p>
        </p:txBody>
      </p:sp>
      <p:sp>
        <p:nvSpPr>
          <p:cNvPr id="20" name="score 11"/>
          <p:cNvSpPr/>
          <p:nvPr/>
        </p:nvSpPr>
        <p:spPr>
          <a:xfrm>
            <a:off x="7223760" y="2743200"/>
            <a:ext cx="548640" cy="548640"/>
          </a:xfrm>
          <a:prstGeom prst="ellipse">
            <a:avLst/>
          </a:prstGeom>
          <a:solidFill>
            <a:srgbClr val="1B4965"/>
          </a:solidFill>
          <a:ln w="12700">
            <a:solidFill>
              <a:srgbClr val="1B4965"/>
            </a:solidFill>
            <a:prstDash val="solid"/>
          </a:ln>
        </p:spPr>
      </p:sp>
      <p:sp>
        <p:nvSpPr>
          <p:cNvPr id="21" name="Text 19"/>
          <p:cNvSpPr txBox="1"/>
          <p:nvPr/>
        </p:nvSpPr>
        <p:spPr>
          <a:xfrm>
            <a:off x="7223760" y="27432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20"/>
          <p:cNvSpPr txBox="1"/>
          <p:nvPr/>
        </p:nvSpPr>
        <p:spPr>
          <a:xfrm>
            <a:off x="7909560" y="2743200"/>
            <a:ext cx="352044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VISA: RAG with Visual Source Attribution</a:t>
            </a:r>
            <a:endParaRPr lang="en-US" sz="1400" dirty="0"/>
          </a:p>
        </p:txBody>
      </p:sp>
      <p:sp>
        <p:nvSpPr>
          <p:cNvPr id="23" name="score 7"/>
          <p:cNvSpPr/>
          <p:nvPr/>
        </p:nvSpPr>
        <p:spPr>
          <a:xfrm>
            <a:off x="7223760" y="3474720"/>
            <a:ext cx="548640" cy="548640"/>
          </a:xfrm>
          <a:prstGeom prst="ellipse">
            <a:avLst/>
          </a:prstGeom>
          <a:solidFill>
            <a:srgbClr val="1B4965"/>
          </a:solidFill>
          <a:ln w="12700">
            <a:solidFill>
              <a:srgbClr val="1B4965"/>
            </a:solidFill>
            <a:prstDash val="solid"/>
          </a:ln>
        </p:spPr>
      </p:sp>
      <p:sp>
        <p:nvSpPr>
          <p:cNvPr id="24" name="Text 22"/>
          <p:cNvSpPr txBox="1"/>
          <p:nvPr/>
        </p:nvSpPr>
        <p:spPr>
          <a:xfrm>
            <a:off x="7223760" y="347472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5" name="Text 23"/>
          <p:cNvSpPr txBox="1"/>
          <p:nvPr/>
        </p:nvSpPr>
        <p:spPr>
          <a:xfrm>
            <a:off x="7909560" y="3474720"/>
            <a:ext cx="352044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RAG in Quranic Studies: 13 open-source LLMs</a:t>
            </a:r>
            <a:endParaRPr lang="en-US" sz="1400" dirty="0"/>
          </a:p>
        </p:txBody>
      </p:sp>
      <p:sp>
        <p:nvSpPr>
          <p:cNvPr id="26" name="score 6"/>
          <p:cNvSpPr/>
          <p:nvPr/>
        </p:nvSpPr>
        <p:spPr>
          <a:xfrm>
            <a:off x="7223760" y="4206240"/>
            <a:ext cx="548640" cy="548640"/>
          </a:xfrm>
          <a:prstGeom prst="ellipse">
            <a:avLst/>
          </a:prstGeom>
          <a:solidFill>
            <a:srgbClr val="1B4965"/>
          </a:solidFill>
          <a:ln w="12700">
            <a:solidFill>
              <a:srgbClr val="1B4965"/>
            </a:solidFill>
            <a:prstDash val="solid"/>
          </a:ln>
        </p:spPr>
      </p:sp>
      <p:sp>
        <p:nvSpPr>
          <p:cNvPr id="27" name="Text 25"/>
          <p:cNvSpPr txBox="1"/>
          <p:nvPr/>
        </p:nvSpPr>
        <p:spPr>
          <a:xfrm>
            <a:off x="7223760" y="420624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txBox="1"/>
          <p:nvPr/>
        </p:nvSpPr>
        <p:spPr>
          <a:xfrm>
            <a:off x="7909560" y="4206240"/>
            <a:ext cx="352044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Overview of the TREC 2025 RAG Track</a:t>
            </a:r>
            <a:endParaRPr lang="en-US" sz="1400" dirty="0"/>
          </a:p>
        </p:txBody>
      </p:sp>
      <p:sp>
        <p:nvSpPr>
          <p:cNvPr id="29" name="Text 27"/>
          <p:cNvSpPr txBox="1"/>
          <p:nvPr/>
        </p:nvSpPr>
        <p:spPr>
          <a:xfrm>
            <a:off x="7223760" y="5029200"/>
            <a:ext cx="4206240" cy="82296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Ranking: title ×3, keywords ×2, summary and abstract ×1. ?paper_id= returns related papers.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digest: an AI-written briefing, not just a list of links</a:t>
            </a:r>
            <a:endParaRPr lang="en-US" sz="3000" dirty="0"/>
          </a:p>
        </p:txBody>
      </p:sp>
      <p:sp>
        <p:nvSpPr>
          <p:cNvPr id="3" name="email mock"/>
          <p:cNvSpPr/>
          <p:nvPr/>
        </p:nvSpPr>
        <p:spPr>
          <a:xfrm>
            <a:off x="548640" y="1280160"/>
            <a:ext cx="6766560" cy="4892040"/>
          </a:xfrm>
          <a:prstGeom prst="roundRect">
            <a:avLst>
              <a:gd name="adj" fmla="val 1495"/>
            </a:avLst>
          </a:prstGeom>
          <a:solidFill>
            <a:srgbClr val="FFFFFF"/>
          </a:solidFill>
          <a:ln w="12700">
            <a:solidFill>
              <a:srgbClr val="C9D3DB"/>
            </a:solidFill>
            <a:prstDash val="solid"/>
          </a:ln>
        </p:spPr>
      </p:sp>
      <p:sp>
        <p:nvSpPr>
          <p:cNvPr id="4" name="Text 2"/>
          <p:cNvSpPr txBox="1"/>
          <p:nvPr/>
        </p:nvSpPr>
        <p:spPr>
          <a:xfrm>
            <a:off x="777240" y="1417320"/>
            <a:ext cx="6309360" cy="411480"/>
          </a:xfrm>
          <a:prstGeom prst="rect">
            <a:avLst/>
          </a:prstGeom>
          <a:noFill/>
          <a:ln/>
        </p:spPr>
        <p:txBody>
          <a:bodyPr wrap="square" lIns="0" tIns="0" rIns="0" bIns="0" rtlCol="0" anchor="t"/>
          <a:lstStyle/>
          <a:p>
            <a:pPr indent="0" marL="0">
              <a:buNone/>
            </a:pPr>
            <a:r>
              <a:rPr lang="en-US" sz="1600" b="1" dirty="0">
                <a:solidFill>
                  <a:srgbClr val="1B4965"/>
                </a:solidFill>
                <a:latin typeface="Calibri" pitchFamily="34" charset="0"/>
                <a:ea typeface="Calibri" pitchFamily="34" charset="-122"/>
                <a:cs typeface="Calibri" pitchFamily="34" charset="-120"/>
              </a:rPr>
              <a:t>Research digest: Retrieval Augmented Generation – 10 new paper(s)</a:t>
            </a:r>
            <a:endParaRPr lang="en-US" sz="1600" dirty="0"/>
          </a:p>
        </p:txBody>
      </p:sp>
      <p:sp>
        <p:nvSpPr>
          <p:cNvPr id="5" name="Text 3"/>
          <p:cNvSpPr txBox="1"/>
          <p:nvPr/>
        </p:nvSpPr>
        <p:spPr>
          <a:xfrm>
            <a:off x="777240" y="1920240"/>
            <a:ext cx="6309360" cy="1005840"/>
          </a:xfrm>
          <a:prstGeom prst="rect">
            <a:avLst/>
          </a:prstGeom>
          <a:noFill/>
          <a:ln/>
        </p:spPr>
        <p:txBody>
          <a:bodyPr wrap="square" lIns="0" tIns="0" rIns="0" bIns="0" rtlCol="0" anchor="t"/>
          <a:lstStyle/>
          <a:p>
            <a:pPr indent="0" marL="0">
              <a:buNone/>
            </a:pPr>
            <a:r>
              <a:rPr lang="en-US" sz="1500" i="1" dirty="0">
                <a:solidFill>
                  <a:schemeClr val="tx1"/>
                </a:solidFill>
                <a:latin typeface="Calibri" pitchFamily="34" charset="0"/>
                <a:ea typeface="Calibri" pitchFamily="34" charset="-122"/>
                <a:cs typeface="Calibri" pitchFamily="34" charset="-120"/>
              </a:rPr>
              <a:t>"These papers show RAG moving from proof-of-concept demos toward engineering-first, trust-oriented systems that prioritize faithfulness, attribution, and domain adaptivity."</a:t>
            </a:r>
            <a:endParaRPr lang="en-US" sz="1500" dirty="0"/>
          </a:p>
        </p:txBody>
      </p:sp>
      <p:sp>
        <p:nvSpPr>
          <p:cNvPr id="6" name="Text 4"/>
          <p:cNvSpPr txBox="1"/>
          <p:nvPr/>
        </p:nvSpPr>
        <p:spPr>
          <a:xfrm>
            <a:off x="777240" y="3017520"/>
            <a:ext cx="63093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Emerging trends</a:t>
            </a:r>
            <a:endParaRPr lang="en-US" sz="1500" dirty="0"/>
          </a:p>
        </p:txBody>
      </p:sp>
      <p:sp>
        <p:nvSpPr>
          <p:cNvPr id="7" name="Text 5"/>
          <p:cNvSpPr txBox="1"/>
          <p:nvPr/>
        </p:nvSpPr>
        <p:spPr>
          <a:xfrm>
            <a:off x="777240" y="3383280"/>
            <a:ext cx="630936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Faithfulness and attribution-first RAG</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Maturing benchmarks and evaluation (shared tracks, multi-dimensional metrics)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Modular, agentic and multi-agent architectures</a:t>
            </a:r>
            <a:endParaRPr lang="en-US" sz="1400" dirty="0"/>
          </a:p>
        </p:txBody>
      </p:sp>
      <p:sp>
        <p:nvSpPr>
          <p:cNvPr id="8" name="Text 6"/>
          <p:cNvSpPr txBox="1"/>
          <p:nvPr/>
        </p:nvSpPr>
        <p:spPr>
          <a:xfrm>
            <a:off x="777240" y="4663440"/>
            <a:ext cx="6309360" cy="64008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Read first:  </a:t>
            </a:r>
            <a:pPr indent="0" marL="0">
              <a:buNone/>
            </a:pPr>
            <a:r>
              <a:rPr lang="en-US" sz="1400" dirty="0">
                <a:solidFill>
                  <a:schemeClr val="tx1"/>
                </a:solidFill>
                <a:latin typeface="Calibri" pitchFamily="34" charset="0"/>
                <a:ea typeface="Calibri" pitchFamily="34" charset="-122"/>
                <a:cs typeface="Calibri" pitchFamily="34" charset="-120"/>
              </a:rPr>
              <a:t>FAIR-RAG · Engineering the RAG Stack · TREC 2025 RAG Track overview</a:t>
            </a:r>
            <a:endParaRPr lang="en-US" sz="1400" dirty="0"/>
          </a:p>
        </p:txBody>
      </p:sp>
      <p:sp>
        <p:nvSpPr>
          <p:cNvPr id="9" name="Text 7"/>
          <p:cNvSpPr txBox="1"/>
          <p:nvPr/>
        </p:nvSpPr>
        <p:spPr>
          <a:xfrm>
            <a:off x="777240" y="5394960"/>
            <a:ext cx="6309360" cy="548640"/>
          </a:xfrm>
          <a:prstGeom prst="rect">
            <a:avLst/>
          </a:prstGeom>
          <a:noFill/>
          <a:ln/>
        </p:spPr>
        <p:txBody>
          <a:bodyPr wrap="square" lIns="0" tIns="0" rIns="0" bIns="0" rtlCol="0" anchor="t"/>
          <a:lstStyle/>
          <a:p>
            <a:pPr indent="0" marL="0">
              <a:buNone/>
            </a:pPr>
            <a:r>
              <a:rPr lang="en-US" sz="1300" i="1" dirty="0">
                <a:solidFill>
                  <a:srgbClr val="7A8794"/>
                </a:solidFill>
                <a:latin typeface="Calibri" pitchFamily="34" charset="0"/>
                <a:ea typeface="Calibri" pitchFamily="34" charset="-122"/>
                <a:cs typeface="Calibri" pitchFamily="34" charset="-120"/>
              </a:rPr>
              <a:t>Then one card per paper: summary, key findings, PDF link, APA citation.</a:t>
            </a:r>
            <a:endParaRPr lang="en-US" sz="1300" dirty="0"/>
          </a:p>
        </p:txBody>
      </p:sp>
      <p:sp>
        <p:nvSpPr>
          <p:cNvPr id="10" name="digest rule On the researcher's schedule circle"/>
          <p:cNvSpPr/>
          <p:nvPr/>
        </p:nvSpPr>
        <p:spPr>
          <a:xfrm>
            <a:off x="7680960" y="1417320"/>
            <a:ext cx="640080" cy="640080"/>
          </a:xfrm>
          <a:prstGeom prst="ellipse">
            <a:avLst/>
          </a:prstGeom>
          <a:solidFill>
            <a:srgbClr val="1B4965"/>
          </a:solidFill>
          <a:ln w="12700">
            <a:solidFill>
              <a:srgbClr val="1B4965"/>
            </a:solidFill>
            <a:prstDash val="solid"/>
          </a:ln>
        </p:spPr>
      </p:sp>
      <p:pic>
        <p:nvPicPr>
          <p:cNvPr id="11" name="digest rule On the researcher's schedule icon" descr="digest rule On the researcher's schedule">    </p:cNvPr>
          <p:cNvPicPr>
            <a:picLocks noChangeAspect="1"/>
          </p:cNvPicPr>
          <p:nvPr/>
        </p:nvPicPr>
        <p:blipFill>
          <a:blip r:embed="rId1"/>
          <a:stretch>
            <a:fillRect/>
          </a:stretch>
        </p:blipFill>
        <p:spPr>
          <a:xfrm>
            <a:off x="7840980" y="1577340"/>
            <a:ext cx="320040" cy="320040"/>
          </a:xfrm>
          <a:prstGeom prst="rect">
            <a:avLst/>
          </a:prstGeom>
        </p:spPr>
      </p:pic>
      <p:sp>
        <p:nvSpPr>
          <p:cNvPr id="12" name="Text 9"/>
          <p:cNvSpPr txBox="1"/>
          <p:nvPr/>
        </p:nvSpPr>
        <p:spPr>
          <a:xfrm>
            <a:off x="8503920" y="139903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On the researcher's schedule</a:t>
            </a:r>
            <a:endParaRPr lang="en-US" sz="1700" dirty="0"/>
          </a:p>
        </p:txBody>
      </p:sp>
      <p:sp>
        <p:nvSpPr>
          <p:cNvPr id="13" name="Text 10"/>
          <p:cNvSpPr txBox="1"/>
          <p:nvPr/>
        </p:nvSpPr>
        <p:spPr>
          <a:xfrm>
            <a:off x="8503920" y="1783080"/>
            <a:ext cx="3108960" cy="91440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daily · weekly on Mondays · monthly on the 1st (09:00 IST)</a:t>
            </a:r>
            <a:endParaRPr lang="en-US" sz="1400" dirty="0"/>
          </a:p>
        </p:txBody>
      </p:sp>
      <p:sp>
        <p:nvSpPr>
          <p:cNvPr id="14" name="digest rule AI overview with a fallback circle"/>
          <p:cNvSpPr/>
          <p:nvPr/>
        </p:nvSpPr>
        <p:spPr>
          <a:xfrm>
            <a:off x="7680960" y="3108960"/>
            <a:ext cx="640080" cy="640080"/>
          </a:xfrm>
          <a:prstGeom prst="ellipse">
            <a:avLst/>
          </a:prstGeom>
          <a:solidFill>
            <a:srgbClr val="C9822B"/>
          </a:solidFill>
          <a:ln w="12700">
            <a:solidFill>
              <a:srgbClr val="C9822B"/>
            </a:solidFill>
            <a:prstDash val="solid"/>
          </a:ln>
        </p:spPr>
      </p:sp>
      <p:pic>
        <p:nvPicPr>
          <p:cNvPr id="15" name="digest rule AI overview with a fallback icon" descr="digest rule AI overview with a fallback">    </p:cNvPr>
          <p:cNvPicPr>
            <a:picLocks noChangeAspect="1"/>
          </p:cNvPicPr>
          <p:nvPr/>
        </p:nvPicPr>
        <p:blipFill>
          <a:blip r:embed="rId2"/>
          <a:stretch>
            <a:fillRect/>
          </a:stretch>
        </p:blipFill>
        <p:spPr>
          <a:xfrm>
            <a:off x="7840980" y="3268980"/>
            <a:ext cx="320040" cy="320040"/>
          </a:xfrm>
          <a:prstGeom prst="rect">
            <a:avLst/>
          </a:prstGeom>
        </p:spPr>
      </p:pic>
      <p:sp>
        <p:nvSpPr>
          <p:cNvPr id="16" name="Text 12"/>
          <p:cNvSpPr txBox="1"/>
          <p:nvPr/>
        </p:nvSpPr>
        <p:spPr>
          <a:xfrm>
            <a:off x="8503920" y="309067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AI overview with a fallback</a:t>
            </a:r>
            <a:endParaRPr lang="en-US" sz="1700" dirty="0"/>
          </a:p>
        </p:txBody>
      </p:sp>
      <p:sp>
        <p:nvSpPr>
          <p:cNvPr id="17" name="Text 13"/>
          <p:cNvSpPr txBox="1"/>
          <p:nvPr/>
        </p:nvSpPr>
        <p:spPr>
          <a:xfrm>
            <a:off x="8503920" y="3474720"/>
            <a:ext cx="3108960" cy="91440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If the LLM call fails, the digest still goes out with a plain list</a:t>
            </a:r>
            <a:endParaRPr lang="en-US" sz="1400" dirty="0"/>
          </a:p>
        </p:txBody>
      </p:sp>
      <p:sp>
        <p:nvSpPr>
          <p:cNvPr id="18" name="digest rule Safe delivery circle"/>
          <p:cNvSpPr/>
          <p:nvPr/>
        </p:nvSpPr>
        <p:spPr>
          <a:xfrm>
            <a:off x="7680960" y="4800600"/>
            <a:ext cx="640080" cy="640080"/>
          </a:xfrm>
          <a:prstGeom prst="ellipse">
            <a:avLst/>
          </a:prstGeom>
          <a:solidFill>
            <a:srgbClr val="1B4965"/>
          </a:solidFill>
          <a:ln w="12700">
            <a:solidFill>
              <a:srgbClr val="1B4965"/>
            </a:solidFill>
            <a:prstDash val="solid"/>
          </a:ln>
        </p:spPr>
      </p:sp>
      <p:pic>
        <p:nvPicPr>
          <p:cNvPr id="19" name="digest rule Safe delivery icon" descr="digest rule Safe delivery">    </p:cNvPr>
          <p:cNvPicPr>
            <a:picLocks noChangeAspect="1"/>
          </p:cNvPicPr>
          <p:nvPr/>
        </p:nvPicPr>
        <p:blipFill>
          <a:blip r:embed="rId3"/>
          <a:stretch>
            <a:fillRect/>
          </a:stretch>
        </p:blipFill>
        <p:spPr>
          <a:xfrm>
            <a:off x="7840980" y="4960620"/>
            <a:ext cx="320040" cy="320040"/>
          </a:xfrm>
          <a:prstGeom prst="rect">
            <a:avLst/>
          </a:prstGeom>
        </p:spPr>
      </p:pic>
      <p:sp>
        <p:nvSpPr>
          <p:cNvPr id="20" name="Text 15"/>
          <p:cNvSpPr txBox="1"/>
          <p:nvPr/>
        </p:nvSpPr>
        <p:spPr>
          <a:xfrm>
            <a:off x="8503920" y="478231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Safe delivery</a:t>
            </a:r>
            <a:endParaRPr lang="en-US" sz="1700" dirty="0"/>
          </a:p>
        </p:txBody>
      </p:sp>
      <p:sp>
        <p:nvSpPr>
          <p:cNvPr id="21" name="Text 16"/>
          <p:cNvSpPr txBox="1"/>
          <p:nvPr/>
        </p:nvSpPr>
        <p:spPr>
          <a:xfrm>
            <a:off x="8503920" y="5166360"/>
            <a:ext cx="3108960" cy="914400"/>
          </a:xfrm>
          <a:prstGeom prst="rect">
            <a:avLst/>
          </a:prstGeom>
          <a:noFill/>
          <a:ln/>
        </p:spPr>
        <p:txBody>
          <a:bodyPr wrap="square" lIns="0" tIns="0" rIns="0" bIns="0" rtlCol="0" anchor="t"/>
          <a:lstStyle/>
          <a:p>
            <a:pPr indent="0" marL="0">
              <a:buNone/>
            </a:pPr>
            <a:r>
              <a:rPr lang="en-US" sz="1400" dirty="0">
                <a:solidFill>
                  <a:srgbClr val="4A5A6A"/>
                </a:solidFill>
                <a:latin typeface="Calibri" pitchFamily="34" charset="0"/>
                <a:ea typeface="Calibri" pitchFamily="34" charset="-122"/>
                <a:cs typeface="Calibri" pitchFamily="34" charset="-120"/>
              </a:rPr>
              <a:t>A failed send is logged; papers stay undigested and the next run retries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Built to fail safely, and tested on every failure path</a:t>
            </a:r>
            <a:endParaRPr lang="en-US" sz="3000" dirty="0"/>
          </a:p>
        </p:txBody>
      </p:sp>
      <p:graphicFrame>
        <p:nvGraphicFramePr>
          <p:cNvPr id="12" name="failure handling table"/>
          <p:cNvGraphicFramePr>
            <a:graphicFrameLocks noGrp="1"/>
          </p:cNvGraphicFramePr>
          <p:nvPr>
            <p:extLst>
              <p:ext uri="{D42A27DB-BD31-4B8C-83A1-F6EECF244321}">
                <p14:modId xmlns:p14="http://schemas.microsoft.com/office/powerpoint/2010/main" val="1579011935"/>
              </p:ext>
            </p:extLst>
          </p:nvPr>
        </p:nvGraphicFramePr>
        <p:xfrm>
          <a:off x="548640" y="1280160"/>
          <a:ext cx="6949440" cy="914400"/>
        </p:xfrm>
        <a:graphic>
          <a:graphicData uri="http://schemas.openxmlformats.org/drawingml/2006/table">
            <a:tbl>
              <a:tblPr/>
              <a:tblGrid>
                <a:gridCol w="2743200"/>
                <a:gridCol w="420624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Situation</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496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system does</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4965"/>
                    </a:solidFill>
                  </a:tcPr>
                </a:tc>
              </a:tr>
              <a:tr h="548640">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Invalid or duplicate topic</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400 with every error, or 409. Nothing is written</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arXiv / Semantic Scholar down or rate-limited</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EF3F5"/>
                    </a:solidFill>
                  </a:tcPr>
                </a:tc>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Timeout, 3 retries with back-off, then 0 results from that source</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EF3F5"/>
                    </a:solidFill>
                  </a:tcPr>
                </a:tc>
              </a:tr>
              <a:tr h="548640">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LLM fails or returns bad JSON</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Validated: score 0 (02), ai_failed (03), plain-list digest (05)</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Broken PDF link or Drive failure</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EF3F5"/>
                    </a:solidFill>
                  </a:tcPr>
                </a:tc>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pdf_status records the outcome; the run continues</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EF3F5"/>
                    </a:solidFill>
                  </a:tcPr>
                </a:tc>
              </a:tr>
              <a:tr h="548640">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Email send fails</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digest_log = failed; papers retried in the next run</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Any unhandled node error</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EF3F5"/>
                    </a:solidFill>
                  </a:tcPr>
                </a:tc>
                <a:tc>
                  <a:txBody>
                    <a:bodyPr/>
                    <a:lstStyle/>
                    <a:p>
                      <a:pPr indent="0" marL="0">
                        <a:buNone/>
                      </a:pPr>
                      <a:r>
                        <a:rPr lang="en-US" sz="1400" dirty="0">
                          <a:solidFill>
                            <a:srgbClr val="12263A"/>
                          </a:solidFill>
                          <a:latin typeface="Calibri" pitchFamily="34" charset="0"/>
                          <a:ea typeface="Calibri" pitchFamily="34" charset="-122"/>
                          <a:cs typeface="Calibri" pitchFamily="34" charset="-120"/>
                        </a:rPr>
                        <a:t>Error Workflow 06 → audit_log + admin alert</a:t>
                      </a:r>
                      <a:endParaRPr lang="en-US" sz="1400" dirty="0">
                        <a:latin typeface="Calibri" charset="0"/>
                        <a:ea typeface="Calibri" charset="0"/>
                        <a:cs typeface="Calibri" charset="0"/>
                      </a:endParaRPr>
                    </a:p>
                  </a:txBody>
                  <a:tcPr marL="73152" marR="73152" marT="73152" marB="73152">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EF3F5"/>
                    </a:solidFill>
                  </a:tcPr>
                </a:tc>
              </a:tr>
            </a:tbl>
          </a:graphicData>
        </a:graphic>
      </p:graphicFrame>
      <p:sp>
        <p:nvSpPr>
          <p:cNvPr id="4" name="test tile scenario tests passed (T1–T14)"/>
          <p:cNvSpPr/>
          <p:nvPr/>
        </p:nvSpPr>
        <p:spPr>
          <a:xfrm>
            <a:off x="7863840" y="1280160"/>
            <a:ext cx="3749040" cy="1417320"/>
          </a:xfrm>
          <a:prstGeom prst="roundRect">
            <a:avLst>
              <a:gd name="adj" fmla="val 5161"/>
            </a:avLst>
          </a:prstGeom>
          <a:solidFill>
            <a:srgbClr val="EEF3F5"/>
          </a:solidFill>
          <a:ln w="12700">
            <a:solidFill>
              <a:srgbClr val="EEF3F5"/>
            </a:solidFill>
            <a:prstDash val="solid"/>
          </a:ln>
        </p:spPr>
      </p:sp>
      <p:sp>
        <p:nvSpPr>
          <p:cNvPr id="5" name="Text 2"/>
          <p:cNvSpPr txBox="1"/>
          <p:nvPr/>
        </p:nvSpPr>
        <p:spPr>
          <a:xfrm>
            <a:off x="8092440" y="1463040"/>
            <a:ext cx="1097280" cy="1005840"/>
          </a:xfrm>
          <a:prstGeom prst="rect">
            <a:avLst/>
          </a:prstGeom>
          <a:noFill/>
          <a:ln/>
        </p:spPr>
        <p:txBody>
          <a:bodyPr wrap="square" lIns="0" tIns="0" rIns="0" bIns="0" rtlCol="0" anchor="ctr"/>
          <a:lstStyle/>
          <a:p>
            <a:pPr indent="0" marL="0">
              <a:buNone/>
            </a:pPr>
            <a:r>
              <a:rPr lang="en-US" sz="4400" b="1" dirty="0">
                <a:solidFill>
                  <a:srgbClr val="1B4965"/>
                </a:solidFill>
                <a:latin typeface="Cambria" pitchFamily="34" charset="0"/>
                <a:ea typeface="Cambria" pitchFamily="34" charset="-122"/>
                <a:cs typeface="Cambria" pitchFamily="34" charset="-120"/>
              </a:rPr>
              <a:t>14</a:t>
            </a:r>
            <a:endParaRPr lang="en-US" sz="4400" dirty="0"/>
          </a:p>
        </p:txBody>
      </p:sp>
      <p:sp>
        <p:nvSpPr>
          <p:cNvPr id="6" name="Text 3"/>
          <p:cNvSpPr txBox="1"/>
          <p:nvPr/>
        </p:nvSpPr>
        <p:spPr>
          <a:xfrm>
            <a:off x="9235440" y="1463040"/>
            <a:ext cx="2240280" cy="10058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scenario tests passed (T1–T14)</a:t>
            </a:r>
            <a:endParaRPr lang="en-US" sz="1500" dirty="0"/>
          </a:p>
        </p:txBody>
      </p:sp>
      <p:sp>
        <p:nvSpPr>
          <p:cNvPr id="7" name="test tile live pipeline steps on real data"/>
          <p:cNvSpPr/>
          <p:nvPr/>
        </p:nvSpPr>
        <p:spPr>
          <a:xfrm>
            <a:off x="7863840" y="2880360"/>
            <a:ext cx="3749040" cy="1417320"/>
          </a:xfrm>
          <a:prstGeom prst="roundRect">
            <a:avLst>
              <a:gd name="adj" fmla="val 5161"/>
            </a:avLst>
          </a:prstGeom>
          <a:solidFill>
            <a:srgbClr val="EEF3F5"/>
          </a:solidFill>
          <a:ln w="12700">
            <a:solidFill>
              <a:srgbClr val="EEF3F5"/>
            </a:solidFill>
            <a:prstDash val="solid"/>
          </a:ln>
        </p:spPr>
      </p:sp>
      <p:sp>
        <p:nvSpPr>
          <p:cNvPr id="8" name="Text 5"/>
          <p:cNvSpPr txBox="1"/>
          <p:nvPr/>
        </p:nvSpPr>
        <p:spPr>
          <a:xfrm>
            <a:off x="8092440" y="3063240"/>
            <a:ext cx="1097280" cy="1005840"/>
          </a:xfrm>
          <a:prstGeom prst="rect">
            <a:avLst/>
          </a:prstGeom>
          <a:noFill/>
          <a:ln/>
        </p:spPr>
        <p:txBody>
          <a:bodyPr wrap="square" lIns="0" tIns="0" rIns="0" bIns="0" rtlCol="0" anchor="ctr"/>
          <a:lstStyle/>
          <a:p>
            <a:pPr indent="0" marL="0">
              <a:buNone/>
            </a:pPr>
            <a:r>
              <a:rPr lang="en-US" sz="4400" b="1" dirty="0">
                <a:solidFill>
                  <a:srgbClr val="1B4965"/>
                </a:solidFill>
                <a:latin typeface="Cambria" pitchFamily="34" charset="0"/>
                <a:ea typeface="Cambria" pitchFamily="34" charset="-122"/>
                <a:cs typeface="Cambria" pitchFamily="34" charset="-120"/>
              </a:rPr>
              <a:t>7</a:t>
            </a:r>
            <a:endParaRPr lang="en-US" sz="4400" dirty="0"/>
          </a:p>
        </p:txBody>
      </p:sp>
      <p:sp>
        <p:nvSpPr>
          <p:cNvPr id="9" name="Text 6"/>
          <p:cNvSpPr txBox="1"/>
          <p:nvPr/>
        </p:nvSpPr>
        <p:spPr>
          <a:xfrm>
            <a:off x="9235440" y="3063240"/>
            <a:ext cx="2240280" cy="10058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live pipeline steps on real data</a:t>
            </a:r>
            <a:endParaRPr lang="en-US" sz="1500" dirty="0"/>
          </a:p>
        </p:txBody>
      </p:sp>
      <p:sp>
        <p:nvSpPr>
          <p:cNvPr id="10" name="test tile real bug found and fixed"/>
          <p:cNvSpPr/>
          <p:nvPr/>
        </p:nvSpPr>
        <p:spPr>
          <a:xfrm>
            <a:off x="7863840" y="4480560"/>
            <a:ext cx="3749040" cy="1417320"/>
          </a:xfrm>
          <a:prstGeom prst="roundRect">
            <a:avLst>
              <a:gd name="adj" fmla="val 5161"/>
            </a:avLst>
          </a:prstGeom>
          <a:solidFill>
            <a:srgbClr val="EEF3F5"/>
          </a:solidFill>
          <a:ln w="12700">
            <a:solidFill>
              <a:srgbClr val="EEF3F5"/>
            </a:solidFill>
            <a:prstDash val="solid"/>
          </a:ln>
        </p:spPr>
      </p:sp>
      <p:sp>
        <p:nvSpPr>
          <p:cNvPr id="11" name="Text 8"/>
          <p:cNvSpPr txBox="1"/>
          <p:nvPr/>
        </p:nvSpPr>
        <p:spPr>
          <a:xfrm>
            <a:off x="8092440" y="4663440"/>
            <a:ext cx="1097280" cy="1005840"/>
          </a:xfrm>
          <a:prstGeom prst="rect">
            <a:avLst/>
          </a:prstGeom>
          <a:noFill/>
          <a:ln/>
        </p:spPr>
        <p:txBody>
          <a:bodyPr wrap="square" lIns="0" tIns="0" rIns="0" bIns="0" rtlCol="0" anchor="ctr"/>
          <a:lstStyle/>
          <a:p>
            <a:pPr indent="0" marL="0">
              <a:buNone/>
            </a:pPr>
            <a:r>
              <a:rPr lang="en-US" sz="4400" b="1" dirty="0">
                <a:solidFill>
                  <a:srgbClr val="C9822B"/>
                </a:solidFill>
                <a:latin typeface="Cambria" pitchFamily="34" charset="0"/>
                <a:ea typeface="Cambria" pitchFamily="34" charset="-122"/>
                <a:cs typeface="Cambria" pitchFamily="34" charset="-120"/>
              </a:rPr>
              <a:t>1</a:t>
            </a:r>
            <a:endParaRPr lang="en-US" sz="4400" dirty="0"/>
          </a:p>
        </p:txBody>
      </p:sp>
      <p:sp>
        <p:nvSpPr>
          <p:cNvPr id="12" name="Text 9"/>
          <p:cNvSpPr txBox="1"/>
          <p:nvPr/>
        </p:nvSpPr>
        <p:spPr>
          <a:xfrm>
            <a:off x="9235440" y="4663440"/>
            <a:ext cx="2240280" cy="10058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real bug found and fixed</a:t>
            </a:r>
            <a:endParaRPr lang="en-US" sz="1500" dirty="0"/>
          </a:p>
        </p:txBody>
      </p:sp>
      <p:sp>
        <p:nvSpPr>
          <p:cNvPr id="13" name="Text 10"/>
          <p:cNvSpPr txBox="1"/>
          <p:nvPr/>
        </p:nvSpPr>
        <p:spPr>
          <a:xfrm>
            <a:off x="548640" y="5440680"/>
            <a:ext cx="6949440" cy="685800"/>
          </a:xfrm>
          <a:prstGeom prst="rect">
            <a:avLst/>
          </a:prstGeom>
          <a:noFill/>
          <a:ln/>
        </p:spPr>
        <p:txBody>
          <a:bodyPr wrap="square" lIns="0" tIns="0" rIns="0" bIns="0" rtlCol="0" anchor="t"/>
          <a:lstStyle/>
          <a:p>
            <a:pPr indent="0" marL="0">
              <a:buNone/>
            </a:pPr>
            <a:r>
              <a:rPr lang="en-US" sz="1300" i="1" dirty="0">
                <a:solidFill>
                  <a:srgbClr val="7A8794"/>
                </a:solidFill>
                <a:latin typeface="Calibri" pitchFamily="34" charset="0"/>
                <a:ea typeface="Calibri" pitchFamily="34" charset="-122"/>
                <a:cs typeface="Calibri" pitchFamily="34" charset="-120"/>
              </a:rPr>
              <a:t>Bug: with 25 PDFs failing at once, items lost their paired link. Fix: an "Attach Reference" node carries each paper's data along with its PDF.</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Results and next steps</a:t>
            </a:r>
            <a:endParaRPr lang="en-US" sz="3200" dirty="0"/>
          </a:p>
        </p:txBody>
      </p:sp>
      <p:graphicFrame>
        <p:nvGraphicFramePr>
          <p:cNvPr id="3" name="pipeline funnel chart" descr="Pipeline funnel: 37 candidates, 36 stored, 36 summarised, 36 cited, 20 in the digests built"/>
          <p:cNvGraphicFramePr/>
          <p:nvPr/>
        </p:nvGraphicFramePr>
        <p:xfrm>
          <a:off x="548640" y="1371600"/>
          <a:ext cx="621792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223760" y="1417320"/>
            <a:ext cx="4389120" cy="411480"/>
          </a:xfrm>
          <a:prstGeom prst="rect">
            <a:avLst/>
          </a:prstGeom>
          <a:noFill/>
          <a:ln/>
        </p:spPr>
        <p:txBody>
          <a:bodyPr wrap="square" lIns="0" tIns="0" rIns="0" bIns="0" rtlCol="0" anchor="t"/>
          <a:lstStyle/>
          <a:p>
            <a:pPr indent="0" marL="0">
              <a:buNone/>
            </a:pPr>
            <a:r>
              <a:rPr lang="en-US" sz="2000" b="1" dirty="0">
                <a:solidFill>
                  <a:srgbClr val="F2B867"/>
                </a:solidFill>
                <a:latin typeface="Cambria" pitchFamily="34" charset="0"/>
                <a:ea typeface="Cambria" pitchFamily="34" charset="-122"/>
                <a:cs typeface="Cambria" pitchFamily="34" charset="-120"/>
              </a:rPr>
              <a:t>What I learned</a:t>
            </a:r>
            <a:endParaRPr lang="en-US" sz="2000" dirty="0"/>
          </a:p>
        </p:txBody>
      </p:sp>
      <p:sp>
        <p:nvSpPr>
          <p:cNvPr id="5" name="Text 2"/>
          <p:cNvSpPr txBox="1"/>
          <p:nvPr/>
        </p:nvSpPr>
        <p:spPr>
          <a:xfrm>
            <a:off x="7223760" y="1874520"/>
            <a:ext cx="43891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3EDF2"/>
                </a:solidFill>
                <a:latin typeface="Calibri" pitchFamily="34" charset="0"/>
                <a:ea typeface="Calibri" pitchFamily="34" charset="-122"/>
                <a:cs typeface="Calibri" pitchFamily="34" charset="-120"/>
              </a:rPr>
              <a:t>Use AI for judgement, code for facts: relevance and summaries by LLM; citations, de-duplication and search in code</a:t>
            </a:r>
            <a:endParaRPr lang="en-US" sz="1400" dirty="0"/>
          </a:p>
          <a:p>
            <a:pPr marL="342900" indent="-342900">
              <a:spcAft>
                <a:spcPts val="600"/>
              </a:spcAft>
              <a:buSzPct val="100000"/>
              <a:buChar char="•"/>
            </a:pPr>
            <a:r>
              <a:rPr lang="en-US" sz="1400" dirty="0">
                <a:solidFill>
                  <a:srgbClr val="E3EDF2"/>
                </a:solidFill>
                <a:latin typeface="Calibri" pitchFamily="34" charset="0"/>
                <a:ea typeface="Calibri" pitchFamily="34" charset="-122"/>
                <a:cs typeface="Calibri" pitchFamily="34" charset="-120"/>
              </a:rPr>
              <a:t>Treat LLM output as untrusted input and give every failure an explicit branch</a:t>
            </a:r>
            <a:endParaRPr lang="en-US" sz="1400" dirty="0"/>
          </a:p>
          <a:p>
            <a:pPr marL="342900" indent="-342900">
              <a:spcAft>
                <a:spcPts val="600"/>
              </a:spcAft>
              <a:buSzPct val="100000"/>
              <a:buChar char="•"/>
            </a:pPr>
            <a:r>
              <a:rPr lang="en-US" sz="1400" dirty="0">
                <a:solidFill>
                  <a:srgbClr val="E3EDF2"/>
                </a:solidFill>
                <a:latin typeface="Calibri" pitchFamily="34" charset="0"/>
                <a:ea typeface="Calibri" pitchFamily="34" charset="-122"/>
                <a:cs typeface="Calibri" pitchFamily="34" charset="-120"/>
              </a:rPr>
              <a:t>Loose coupling through Data Tables makes each stage easy to test and re-run</a:t>
            </a:r>
            <a:endParaRPr lang="en-US" sz="1400" dirty="0"/>
          </a:p>
        </p:txBody>
      </p:sp>
      <p:sp>
        <p:nvSpPr>
          <p:cNvPr id="6" name="Text 3"/>
          <p:cNvSpPr txBox="1"/>
          <p:nvPr/>
        </p:nvSpPr>
        <p:spPr>
          <a:xfrm>
            <a:off x="7223760" y="4206240"/>
            <a:ext cx="4389120" cy="411480"/>
          </a:xfrm>
          <a:prstGeom prst="rect">
            <a:avLst/>
          </a:prstGeom>
          <a:noFill/>
          <a:ln/>
        </p:spPr>
        <p:txBody>
          <a:bodyPr wrap="square" lIns="0" tIns="0" rIns="0" bIns="0" rtlCol="0" anchor="t"/>
          <a:lstStyle/>
          <a:p>
            <a:pPr indent="0" marL="0">
              <a:buNone/>
            </a:pPr>
            <a:r>
              <a:rPr lang="en-US" sz="2000" b="1" dirty="0">
                <a:solidFill>
                  <a:srgbClr val="F2B867"/>
                </a:solidFill>
                <a:latin typeface="Cambria" pitchFamily="34" charset="0"/>
                <a:ea typeface="Cambria" pitchFamily="34" charset="-122"/>
                <a:cs typeface="Cambria" pitchFamily="34" charset="-120"/>
              </a:rPr>
              <a:t>Next steps</a:t>
            </a:r>
            <a:endParaRPr lang="en-US" sz="2000" dirty="0"/>
          </a:p>
        </p:txBody>
      </p:sp>
      <p:sp>
        <p:nvSpPr>
          <p:cNvPr id="7" name="Text 4"/>
          <p:cNvSpPr txBox="1"/>
          <p:nvPr/>
        </p:nvSpPr>
        <p:spPr>
          <a:xfrm>
            <a:off x="7223760" y="4663440"/>
            <a:ext cx="43891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3EDF2"/>
                </a:solidFill>
                <a:latin typeface="Calibri" pitchFamily="34" charset="0"/>
                <a:ea typeface="Calibri" pitchFamily="34" charset="-122"/>
                <a:cs typeface="Calibri" pitchFamily="34" charset="-120"/>
              </a:rPr>
              <a:t>Connect Gmail, Google Drive and Semantic Scholar on the live instance</a:t>
            </a:r>
            <a:endParaRPr lang="en-US" sz="1400" dirty="0"/>
          </a:p>
          <a:p>
            <a:pPr marL="342900" indent="-342900">
              <a:spcAft>
                <a:spcPts val="600"/>
              </a:spcAft>
              <a:buSzPct val="100000"/>
              <a:buChar char="•"/>
            </a:pPr>
            <a:r>
              <a:rPr lang="en-US" sz="1400" dirty="0">
                <a:solidFill>
                  <a:srgbClr val="E3EDF2"/>
                </a:solidFill>
                <a:latin typeface="Calibri" pitchFamily="34" charset="0"/>
                <a:ea typeface="Calibri" pitchFamily="34" charset="-122"/>
                <a:cs typeface="Calibri" pitchFamily="34" charset="-120"/>
              </a:rPr>
              <a:t>Full-text PDF summaries and a citation-based "related papers" graph</a:t>
            </a:r>
            <a:endParaRPr lang="en-US" sz="1400" dirty="0"/>
          </a:p>
          <a:p>
            <a:pPr marL="342900" indent="-342900">
              <a:spcAft>
                <a:spcPts val="600"/>
              </a:spcAft>
              <a:buSzPct val="100000"/>
              <a:buChar char="•"/>
            </a:pPr>
            <a:r>
              <a:rPr lang="en-US" sz="1400" dirty="0">
                <a:solidFill>
                  <a:srgbClr val="E3EDF2"/>
                </a:solidFill>
                <a:latin typeface="Calibri" pitchFamily="34" charset="0"/>
                <a:ea typeface="Calibri" pitchFamily="34" charset="-122"/>
                <a:cs typeface="Calibri" pitchFamily="34" charset="-120"/>
              </a:rPr>
              <a:t>A human approval step before a digest is sent</a:t>
            </a:r>
            <a:endParaRPr lang="en-US" sz="1400" dirty="0"/>
          </a:p>
        </p:txBody>
      </p:sp>
    </p:spTree>
  </p:cSld>
  <p:clrMapOvr>
    <a:masterClrMapping/>
  </p:clrMapOvr>
</p:sld>
</file>

<file path=ppt/theme/theme1.xml><?xml version="1.0" encoding="utf-8"?>
<a:theme xmlns:a="http://schemas.openxmlformats.org/drawingml/2006/main" name="Research Teal">
  <a:themeElements>
    <a:clrScheme name="Research Teal">
      <a:dk1>
        <a:srgbClr val="12263A"/>
      </a:dk1>
      <a:lt1>
        <a:srgbClr val="FFFFFF"/>
      </a:lt1>
      <a:dk2>
        <a:srgbClr val="1B4965"/>
      </a:dk2>
      <a:lt2>
        <a:srgbClr val="EEF3F5"/>
      </a:lt2>
      <a:accent1>
        <a:srgbClr val="1B4965"/>
      </a:accent1>
      <a:accent2>
        <a:srgbClr val="C9822B"/>
      </a:accent2>
      <a:accent3>
        <a:srgbClr val="4F7A3A"/>
      </a:accent3>
      <a:accent4>
        <a:srgbClr val="9B2C2C"/>
      </a:accent4>
      <a:accent5>
        <a:srgbClr val="5FA8D3"/>
      </a:accent5>
      <a:accent6>
        <a:srgbClr val="7A8794"/>
      </a:accent6>
      <a:hlink>
        <a:srgbClr val="1B4965"/>
      </a:hlink>
      <a:folHlink>
        <a:srgbClr val="5A6B7B"/>
      </a:folHlink>
    </a:clrScheme>
    <a:fontScheme name="Research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Research Assistant Platform - n8n Capstone</dc:title>
  <dc:subject>PptxGenJS Presentation</dc:subject>
  <dc:creator>Anshika Rana</dc:creator>
  <cp:lastModifiedBy>Anshika Rana</cp:lastModifiedBy>
  <cp:revision>1</cp:revision>
  <dcterms:created xsi:type="dcterms:W3CDTF">2026-10-07T06:12:17Z</dcterms:created>
  <dcterms:modified xsi:type="dcterms:W3CDTF">2026-10-07T06:12:17Z</dcterms:modified>
</cp:coreProperties>
</file>